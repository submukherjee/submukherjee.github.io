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8C_E3EDB405.xml" ContentType="application/vnd.ms-powerpoint.comments+xml"/>
  <Override PartName="/ppt/comments/modernComment_190_1471C695.xml" ContentType="application/vnd.ms-powerpoint.comments+xml"/>
  <Override PartName="/ppt/notesSlides/notesSlide5.xml" ContentType="application/vnd.openxmlformats-officedocument.presentationml.notesSlide+xml"/>
  <Override PartName="/ppt/comments/modernComment_18E_E11F6994.xml" ContentType="application/vnd.ms-powerpoint.comments+xml"/>
  <Override PartName="/ppt/notesSlides/notesSlide6.xml" ContentType="application/vnd.openxmlformats-officedocument.presentationml.notesSlide+xml"/>
  <Override PartName="/ppt/comments/modernComment_18F_B20409D5.xml" ContentType="application/vnd.ms-powerpoint.comments+xml"/>
  <Override PartName="/ppt/comments/modernComment_340_A9FFADCE.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
  </p:sldMasterIdLst>
  <p:notesMasterIdLst>
    <p:notesMasterId r:id="rId13"/>
  </p:notesMasterIdLst>
  <p:sldIdLst>
    <p:sldId id="324" r:id="rId4"/>
    <p:sldId id="831" r:id="rId5"/>
    <p:sldId id="368" r:id="rId6"/>
    <p:sldId id="833" r:id="rId7"/>
    <p:sldId id="396" r:id="rId8"/>
    <p:sldId id="400" r:id="rId9"/>
    <p:sldId id="398" r:id="rId10"/>
    <p:sldId id="399" r:id="rId11"/>
    <p:sldId id="832" r:id="rId12"/>
  </p:sldIdLst>
  <p:sldSz cx="12192000" cy="6858000"/>
  <p:notesSz cx="6950075"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FDCB4FB4-46C2-1EE9-06BA-160A9158D1E4}" name="Cao, Qian" initials="CQ" userId="S::qian.cao@fda.gov::79abc97d-e0b2-46e0-a928-62457b2405ec" providerId="AD"/>
  <p188:author id="{047E85BC-1669-68AA-23E6-5643344F7311}" name="Mukherjee, Subrata *" initials="SM" userId="S::Subrata.Mukherjee@fda.gov::01491f56-936f-4596-ae78-c023ca8985ed" providerId="AD"/>
  <p188:author id="{78E995C1-3E41-9ECD-AFA8-A37E62136941}" name="Wang, Craig" initials="CW" userId="S::WANGCR2@novartis.net::8802cda9-9a38-4bbb-aa88-ffedad02b733" providerId="AD"/>
  <p188:author id="{65BDB1CD-12BD-EC02-F7EB-3354C3E20BFD}" name="Cao, Qian" initials="CQ" userId="S::Qian.Cao@fda.gov::79abc97d-e0b2-46e0-a928-62457b2405ec" providerId="AD"/>
  <p188:author id="{3E5AE5E6-0B5E-0701-E1DB-C0760F1BF167}" name="Petrick, Nicholas A" initials="PA" userId="S::nxp@fda.gov::500de869-34f3-47d6-9e97-e8f4d60f71ac" providerId="AD"/>
  <p188:author id="{E06891F5-FC4C-0039-2205-88DDCF31FFD8}" name="Mukherjee, Subrata" initials="SM" userId="S::ssm@ornl.gov::d6e4fdf9-36a3-4aed-b5a4-5dba5ac046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766D"/>
    <a:srgbClr val="79AB00"/>
    <a:srgbClr val="C474FF"/>
    <a:srgbClr val="00BCC1"/>
    <a:srgbClr val="7BAD00"/>
    <a:srgbClr val="0070C0"/>
    <a:srgbClr val="C77CFF"/>
    <a:srgbClr val="00BFC4"/>
    <a:srgbClr val="7DAE00"/>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73" autoAdjust="0"/>
    <p:restoredTop sz="85587" autoAdjust="0"/>
  </p:normalViewPr>
  <p:slideViewPr>
    <p:cSldViewPr snapToGrid="0">
      <p:cViewPr varScale="1">
        <p:scale>
          <a:sx n="82" d="100"/>
          <a:sy n="82" d="100"/>
        </p:scale>
        <p:origin x="710"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19" Type="http://schemas.microsoft.com/office/2018/10/relationships/authors" Targe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herjee, Subrata" userId="d6e4fdf9-36a3-4aed-b5a4-5dba5ac0460e" providerId="ADAL" clId="{835982F2-18B1-41BA-87E3-646B7BA395C9}"/>
    <pc:docChg chg="undo custSel modSld">
      <pc:chgData name="Mukherjee, Subrata" userId="d6e4fdf9-36a3-4aed-b5a4-5dba5ac0460e" providerId="ADAL" clId="{835982F2-18B1-41BA-87E3-646B7BA395C9}" dt="2025-05-13T23:55:43.675" v="5" actId="1076"/>
      <pc:docMkLst>
        <pc:docMk/>
      </pc:docMkLst>
      <pc:sldChg chg="addSp delSp modSp mod">
        <pc:chgData name="Mukherjee, Subrata" userId="d6e4fdf9-36a3-4aed-b5a4-5dba5ac0460e" providerId="ADAL" clId="{835982F2-18B1-41BA-87E3-646B7BA395C9}" dt="2025-05-13T23:55:43.675" v="5" actId="1076"/>
        <pc:sldMkLst>
          <pc:docMk/>
          <pc:sldMk cId="3776932244" sldId="398"/>
        </pc:sldMkLst>
        <pc:spChg chg="mod">
          <ac:chgData name="Mukherjee, Subrata" userId="d6e4fdf9-36a3-4aed-b5a4-5dba5ac0460e" providerId="ADAL" clId="{835982F2-18B1-41BA-87E3-646B7BA395C9}" dt="2025-05-13T23:55:37.746" v="4" actId="1076"/>
          <ac:spMkLst>
            <pc:docMk/>
            <pc:sldMk cId="3776932244" sldId="398"/>
            <ac:spMk id="2" creationId="{2B15BEB0-EC19-1A22-6EFE-F00AD5147772}"/>
          </ac:spMkLst>
        </pc:spChg>
        <pc:spChg chg="add del">
          <ac:chgData name="Mukherjee, Subrata" userId="d6e4fdf9-36a3-4aed-b5a4-5dba5ac0460e" providerId="ADAL" clId="{835982F2-18B1-41BA-87E3-646B7BA395C9}" dt="2025-05-13T23:54:50.716" v="1" actId="22"/>
          <ac:spMkLst>
            <pc:docMk/>
            <pc:sldMk cId="3776932244" sldId="398"/>
            <ac:spMk id="7" creationId="{317E31DE-AACD-9ED0-2D24-77A4B421AE49}"/>
          </ac:spMkLst>
        </pc:spChg>
        <pc:spChg chg="mod">
          <ac:chgData name="Mukherjee, Subrata" userId="d6e4fdf9-36a3-4aed-b5a4-5dba5ac0460e" providerId="ADAL" clId="{835982F2-18B1-41BA-87E3-646B7BA395C9}" dt="2025-05-13T23:55:43.675" v="5" actId="1076"/>
          <ac:spMkLst>
            <pc:docMk/>
            <pc:sldMk cId="3776932244" sldId="398"/>
            <ac:spMk id="9" creationId="{C6F8E9FE-6327-9840-28AD-BC1165C79350}"/>
          </ac:spMkLst>
        </pc:spChg>
        <pc:grpChg chg="mod">
          <ac:chgData name="Mukherjee, Subrata" userId="d6e4fdf9-36a3-4aed-b5a4-5dba5ac0460e" providerId="ADAL" clId="{835982F2-18B1-41BA-87E3-646B7BA395C9}" dt="2025-05-13T23:55:32.606" v="3" actId="1076"/>
          <ac:grpSpMkLst>
            <pc:docMk/>
            <pc:sldMk cId="3776932244" sldId="398"/>
            <ac:grpSpMk id="13" creationId="{A397D647-0751-F8F0-63E9-93DA7D3859AD}"/>
          </ac:grpSpMkLst>
        </pc:grpChg>
      </pc:sldChg>
    </pc:docChg>
  </pc:docChgLst>
  <pc:docChgLst>
    <pc:chgData name="Mukherjee, Subrata" userId="d6e4fdf9-36a3-4aed-b5a4-5dba5ac0460e" providerId="ADAL" clId="{7A805ED7-5F12-44AE-AD13-6C3F0D74B160}"/>
    <pc:docChg chg="modSld">
      <pc:chgData name="Mukherjee, Subrata" userId="d6e4fdf9-36a3-4aed-b5a4-5dba5ac0460e" providerId="ADAL" clId="{7A805ED7-5F12-44AE-AD13-6C3F0D74B160}" dt="2024-11-21T04:22:59.035" v="1" actId="1076"/>
      <pc:docMkLst>
        <pc:docMk/>
      </pc:docMkLst>
      <pc:sldChg chg="modSp mod">
        <pc:chgData name="Mukherjee, Subrata" userId="d6e4fdf9-36a3-4aed-b5a4-5dba5ac0460e" providerId="ADAL" clId="{7A805ED7-5F12-44AE-AD13-6C3F0D74B160}" dt="2024-11-21T04:22:59.035" v="1" actId="1076"/>
        <pc:sldMkLst>
          <pc:docMk/>
          <pc:sldMk cId="2986609109" sldId="399"/>
        </pc:sldMkLst>
      </pc:sldChg>
    </pc:docChg>
  </pc:docChgLst>
</pc:chgInfo>
</file>

<file path=ppt/comments/modernComment_18C_E3EDB405.xml><?xml version="1.0" encoding="utf-8"?>
<p188:cmLst xmlns:a="http://schemas.openxmlformats.org/drawingml/2006/main" xmlns:r="http://schemas.openxmlformats.org/officeDocument/2006/relationships" xmlns:p188="http://schemas.microsoft.com/office/powerpoint/2018/8/main">
  <p188:cm id="{4BA4E926-300A-44FF-BDE7-915C25A37CB5}" authorId="{78E995C1-3E41-9ECD-AFA8-A37E62136941}" created="2024-11-20T19:33:52.252">
    <ac:txMkLst xmlns:ac="http://schemas.microsoft.com/office/drawing/2013/main/command">
      <pc:docMk xmlns:pc="http://schemas.microsoft.com/office/powerpoint/2013/main/command"/>
      <pc:sldMk xmlns:pc="http://schemas.microsoft.com/office/powerpoint/2013/main/command" cId="3824006149" sldId="396"/>
      <ac:spMk id="11" creationId="{EA2190B2-5F75-BAEC-9E69-BD97091F1726}"/>
      <ac:txMk cp="81">
        <ac:context len="82" hash="2550906248"/>
      </ac:txMk>
    </ac:txMkLst>
    <p188:pos x="5297807" y="582741"/>
    <p188:replyLst>
      <p188:reply id="{6CCF4525-4D56-4A5D-9894-2E84F691BCAD}" authorId="{E06891F5-FC4C-0039-2205-88DDCF31FFD8}" created="2024-11-21T03:35:04.601">
        <p188:txBody>
          <a:bodyPr/>
          <a:lstStyle/>
          <a:p>
            <a:r>
              <a:rPr lang="en-US"/>
              <a:t>Totally agree. Have moved to Slide 4</a:t>
            </a:r>
          </a:p>
        </p188:txBody>
      </p188:reply>
    </p188:replyLst>
    <p188:txBody>
      <a:bodyPr/>
      <a:lstStyle/>
      <a:p>
        <a:r>
          <a:rPr lang="en-US"/>
          <a:t>The training and test cohort size is more appropriate for slide 4, since they are data sample size not feature set</a:t>
        </a:r>
      </a:p>
    </p188:txBody>
  </p188:cm>
  <p188:cm id="{0EF0E7C2-B3F8-4B9C-8E5A-05604C322C9D}" authorId="{78E995C1-3E41-9ECD-AFA8-A37E62136941}" created="2024-11-20T19:37:13.032">
    <ac:txMkLst xmlns:ac="http://schemas.microsoft.com/office/drawing/2013/main/command">
      <pc:docMk xmlns:pc="http://schemas.microsoft.com/office/powerpoint/2013/main/command"/>
      <pc:sldMk xmlns:pc="http://schemas.microsoft.com/office/powerpoint/2013/main/command" cId="3824006149" sldId="396"/>
      <ac:spMk id="11" creationId="{EA2190B2-5F75-BAEC-9E69-BD97091F1726}"/>
      <ac:txMk cp="81">
        <ac:context len="82" hash="2550906248"/>
      </ac:txMk>
    </ac:txMkLst>
    <p188:pos x="1471242" y="1189028"/>
    <p188:replyLst>
      <p188:reply id="{6E1D771D-76DC-4E29-8882-6B6BF9082EC2}" authorId="{E06891F5-FC4C-0039-2205-88DDCF31FFD8}" created="2024-11-21T03:43:10.934">
        <p188:txBody>
          <a:bodyPr/>
          <a:lstStyle/>
          <a:p>
            <a:r>
              <a:rPr lang="en-US"/>
              <a:t>Yes. Have written in the slide</a:t>
            </a:r>
          </a:p>
        </p188:txBody>
      </p188:reply>
    </p188:replyLst>
    <p188:txBody>
      <a:bodyPr/>
      <a:lstStyle/>
      <a:p>
        <a:r>
          <a:rPr lang="en-US"/>
          <a:t>Can you add for the delta radiomics, how many post-treatment assessments are you using, is it only week 8 - baseline?</a:t>
        </a:r>
      </a:p>
    </p188:txBody>
  </p188:cm>
</p188:cmLst>
</file>

<file path=ppt/comments/modernComment_18E_E11F6994.xml><?xml version="1.0" encoding="utf-8"?>
<p188:cmLst xmlns:a="http://schemas.openxmlformats.org/drawingml/2006/main" xmlns:r="http://schemas.openxmlformats.org/officeDocument/2006/relationships" xmlns:p188="http://schemas.microsoft.com/office/powerpoint/2018/8/main">
  <p188:cm id="{F7CE7A5B-5359-4F45-B1D4-6241F27C075B}" authorId="{78E995C1-3E41-9ECD-AFA8-A37E62136941}" created="2024-11-20T19:41:41.320">
    <ac:txMkLst xmlns:ac="http://schemas.microsoft.com/office/drawing/2013/main/command">
      <pc:docMk xmlns:pc="http://schemas.microsoft.com/office/powerpoint/2013/main/command"/>
      <pc:sldMk xmlns:pc="http://schemas.microsoft.com/office/powerpoint/2013/main/command" cId="3776932244" sldId="398"/>
      <ac:spMk id="14" creationId="{108EA6D5-249F-664E-405E-316680DAFA15}"/>
      <ac:txMk cp="65" len="55">
        <ac:context len="121" hash="1937305144"/>
      </ac:txMk>
    </ac:txMkLst>
    <p188:pos x="3698707" y="1910054"/>
    <p188:replyLst>
      <p188:reply id="{1293F9F8-79FA-4CBD-AE13-7C0B3428FD59}" authorId="{E06891F5-FC4C-0039-2205-88DDCF31FFD8}" created="2024-11-21T04:20:22.916">
        <p188:txBody>
          <a:bodyPr/>
          <a:lstStyle/>
          <a:p>
            <a:r>
              <a:rPr lang="en-US"/>
              <a:t>Out of 3 , 1 interaction pair (Arm * PC3 delta) is highly significant</a:t>
            </a:r>
          </a:p>
        </p188:txBody>
      </p188:reply>
    </p188:replyLst>
    <p188:txBody>
      <a:bodyPr/>
      <a:lstStyle/>
      <a:p>
        <a:r>
          <a:rPr lang="en-US"/>
          <a:t>And were they significant? Can you add a brief comment? Since they are not shown in the figure</a:t>
        </a:r>
      </a:p>
    </p188:txBody>
  </p188:cm>
  <p188:cm id="{4F688C0A-E6AB-4A3C-8201-E08D81771382}" authorId="{78E995C1-3E41-9ECD-AFA8-A37E62136941}" created="2024-11-20T19:42:32.736">
    <ac:txMkLst xmlns:ac="http://schemas.microsoft.com/office/drawing/2013/main/command">
      <pc:docMk xmlns:pc="http://schemas.microsoft.com/office/powerpoint/2013/main/command"/>
      <pc:sldMk xmlns:pc="http://schemas.microsoft.com/office/powerpoint/2013/main/command" cId="3776932244" sldId="398"/>
      <ac:spMk id="2" creationId="{2B15BEB0-EC19-1A22-6EFE-F00AD5147772}"/>
      <ac:txMk cp="0" len="12">
        <ac:context len="23" hash="2548863718"/>
      </ac:txMk>
    </ac:txMkLst>
    <p188:pos x="5506105" y="558458"/>
    <p188:replyLst>
      <p188:reply id="{46A49FE3-BA21-4F60-822F-2A8152FF91BC}" authorId="{E06891F5-FC4C-0039-2205-88DDCF31FFD8}" created="2024-11-21T03:32:42.469">
        <p188:txBody>
          <a:bodyPr/>
          <a:lstStyle/>
          <a:p>
            <a:r>
              <a:rPr lang="en-US"/>
              <a:t>Thank you for the comment. As these three features came out to be significant hence in the Model 4 which is B+D+C+I, we have modelled the pairwise interactions among these three significant features in addition to the reduced 15 covariate vector.
To reiteration:
B model: 3 PC from Baseline
B+D: 6 PC (3 PC each from Baseline and Delta)
B+D+C: 6 PC +9 clinical
B+D+C+I: 15+3 interactions</a:t>
            </a:r>
          </a:p>
        </p188:txBody>
      </p188:reply>
    </p188:replyLst>
    <p188:txBody>
      <a:bodyPr/>
      <a:lstStyle/>
      <a:p>
        <a:r>
          <a:rPr lang="en-US"/>
          <a:t>Is this really about interactions or feature selection? Do you keep only significant features in the model for slide 8? If there is no feature selection, you can update the title to ‘Variable importance’</a:t>
        </a:r>
      </a:p>
    </p188:txBody>
  </p188:cm>
</p188:cmLst>
</file>

<file path=ppt/comments/modernComment_18F_B20409D5.xml><?xml version="1.0" encoding="utf-8"?>
<p188:cmLst xmlns:a="http://schemas.openxmlformats.org/drawingml/2006/main" xmlns:r="http://schemas.openxmlformats.org/officeDocument/2006/relationships" xmlns:p188="http://schemas.microsoft.com/office/powerpoint/2018/8/main">
  <p188:cm id="{DE54C356-A45A-412E-9966-A2335C5362F1}" authorId="{78E995C1-3E41-9ECD-AFA8-A37E62136941}" created="2024-11-20T19:44:08.780">
    <pc:sldMkLst xmlns:pc="http://schemas.microsoft.com/office/powerpoint/2013/main/command">
      <pc:docMk/>
      <pc:sldMk cId="2986609109" sldId="399"/>
    </pc:sldMkLst>
    <p188:replyLst>
      <p188:reply id="{1DCBFEAD-1D0C-4CD1-99EE-9194C2E736CE}" authorId="{E06891F5-FC4C-0039-2205-88DDCF31FFD8}" created="2024-11-21T03:19:37.472">
        <p188:txBody>
          <a:bodyPr/>
          <a:lstStyle/>
          <a:p>
            <a:r>
              <a:rPr lang="en-US"/>
              <a:t>Have used compareC to test the significance. Between B+D and B p val is 0.012, between B+D+C and B p val is further reduced. Same for B+D+C+I and B. Hence all turn out to be statistically significant compared to baseline B.</a:t>
            </a:r>
          </a:p>
        </p188:txBody>
      </p188:reply>
    </p188:replyLst>
    <p188:txBody>
      <a:bodyPr/>
      <a:lstStyle/>
      <a:p>
        <a:r>
          <a:rPr lang="en-US"/>
          <a:t>I saw your reply to Thibaud using z-test, however since these are tested on the same data, these C-index are correlated. Can you use the R package compareC to check the p-value and see if you get different result from z-test? </a:t>
        </a:r>
      </a:p>
    </p188:txBody>
  </p188:cm>
  <p188:cm id="{2B10F4AF-55B1-46C5-B106-7FDBFA89CCC4}" authorId="{78E995C1-3E41-9ECD-AFA8-A37E62136941}" created="2024-11-20T19:45:15.909">
    <pc:sldMkLst xmlns:pc="http://schemas.microsoft.com/office/powerpoint/2013/main/command">
      <pc:docMk/>
      <pc:sldMk cId="2986609109" sldId="399"/>
    </pc:sldMkLst>
    <p188:replyLst>
      <p188:reply id="{065B0709-4BC3-40C9-9BEA-27FC766D227E}" authorId="{E06891F5-FC4C-0039-2205-88DDCF31FFD8}" created="2024-11-21T03:20:23.031">
        <p188:txBody>
          <a:bodyPr/>
          <a:lstStyle/>
          <a:p>
            <a:r>
              <a:rPr lang="en-US"/>
              <a:t>Have placed the number of features considered in each model in the box</a:t>
            </a:r>
          </a:p>
        </p188:txBody>
      </p188:reply>
    </p188:replyLst>
    <p188:txBody>
      <a:bodyPr/>
      <a:lstStyle/>
      <a:p>
        <a:r>
          <a:rPr lang="en-US"/>
          <a:t>Similar to slide 7 question, are these model based on 15 features or only the 3 significant features? Maybe in the legend you can include number of features used in each model.</a:t>
        </a:r>
      </a:p>
    </p188:txBody>
  </p188:cm>
</p188:cmLst>
</file>

<file path=ppt/comments/modernComment_190_1471C695.xml><?xml version="1.0" encoding="utf-8"?>
<p188:cmLst xmlns:a="http://schemas.openxmlformats.org/drawingml/2006/main" xmlns:r="http://schemas.openxmlformats.org/officeDocument/2006/relationships" xmlns:p188="http://schemas.microsoft.com/office/powerpoint/2018/8/main">
  <p188:cm id="{AFD31611-0846-477C-A827-2BC6B302368C}" authorId="{78E995C1-3E41-9ECD-AFA8-A37E62136941}" created="2024-11-20T19:38:28.655">
    <ac:deMkLst xmlns:ac="http://schemas.microsoft.com/office/drawing/2013/main/command">
      <pc:docMk xmlns:pc="http://schemas.microsoft.com/office/powerpoint/2013/main/command"/>
      <pc:sldMk xmlns:pc="http://schemas.microsoft.com/office/powerpoint/2013/main/command" cId="343000725" sldId="400"/>
      <ac:spMk id="14" creationId="{A645D33B-0A11-4BA3-1EF2-98A9244D5646}"/>
    </ac:deMkLst>
    <p188:replyLst>
      <p188:reply id="{6AE8CB7D-EEE9-4E95-90CE-BBBE3C4BB7BB}" authorId="{E06891F5-FC4C-0039-2205-88DDCF31FFD8}" created="2024-11-21T03:34:45.961">
        <p188:txBody>
          <a:bodyPr/>
          <a:lstStyle/>
          <a:p>
            <a:r>
              <a:rPr lang="en-US"/>
              <a:t>Thank you. My bad, have removed it</a:t>
            </a:r>
          </a:p>
        </p188:txBody>
      </p188:reply>
    </p188:replyLst>
    <p188:txBody>
      <a:bodyPr/>
      <a:lstStyle/>
      <a:p>
        <a:r>
          <a:rPr lang="en-US"/>
          <a:t>Not sure if it’s my formatting, if you scroll to the far right there is a text ‘15-dimension covariate vector’, move it closer or remove?</a:t>
        </a:r>
      </a:p>
    </p188:txBody>
  </p188:cm>
</p188:cmLst>
</file>

<file path=ppt/comments/modernComment_340_A9FFADCE.xml><?xml version="1.0" encoding="utf-8"?>
<p188:cmLst xmlns:a="http://schemas.openxmlformats.org/drawingml/2006/main" xmlns:r="http://schemas.openxmlformats.org/officeDocument/2006/relationships" xmlns:p188="http://schemas.microsoft.com/office/powerpoint/2018/8/main">
  <p188:cm id="{B64E6C73-D112-43CE-9CEE-51CEF264AB3D}" authorId="{78E995C1-3E41-9ECD-AFA8-A37E62136941}" created="2024-11-20T19:46:55.327">
    <ac:txMkLst xmlns:ac="http://schemas.microsoft.com/office/drawing/2013/main/command">
      <pc:docMk xmlns:pc="http://schemas.microsoft.com/office/powerpoint/2013/main/command"/>
      <pc:sldMk xmlns:pc="http://schemas.microsoft.com/office/powerpoint/2013/main/command" cId="2852105678" sldId="832"/>
      <ac:spMk id="6" creationId="{F1ABF88B-4FB0-9670-0F79-D5FF699CC7FF}"/>
      <ac:txMk cp="103">
        <ac:context len="410" hash="1721393100"/>
      </ac:txMk>
    </ac:txMkLst>
    <p188:pos x="11482855" y="402928"/>
    <p188:replyLst>
      <p188:reply id="{0CEB0CDF-2C8E-4F29-986B-476FF837F3AD}" authorId="{E06891F5-FC4C-0039-2205-88DDCF31FFD8}" created="2024-11-21T03:03:17.253">
        <p188:txBody>
          <a:bodyPr/>
          <a:lstStyle/>
          <a:p>
            <a:r>
              <a:rPr lang="en-US"/>
              <a:t>Thank you. Have changed</a:t>
            </a:r>
          </a:p>
        </p188:txBody>
      </p188:reply>
    </p188:replyLst>
    <p188:txBody>
      <a:bodyPr/>
      <a:lstStyle/>
      <a:p>
        <a:r>
          <a:rPr lang="en-US"/>
          <a:t>Suggest to replace ‘deliver’ with ‘help the assessment of’, since the model is only predicting disease prognosis, not treatment response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0F94F1F9-670B-4BD8-A79A-22FF1A005646}" type="datetimeFigureOut">
              <a:rPr lang="en-US" smtClean="0"/>
              <a:t>5/13/2025</a:t>
            </a:fld>
            <a:endParaRPr lang="en-US"/>
          </a:p>
        </p:txBody>
      </p:sp>
      <p:sp>
        <p:nvSpPr>
          <p:cNvPr id="4" name="Slide Image Placeholder 3"/>
          <p:cNvSpPr>
            <a:spLocks noGrp="1" noRot="1" noChangeAspect="1"/>
          </p:cNvSpPr>
          <p:nvPr>
            <p:ph type="sldImg" idx="2"/>
          </p:nvPr>
        </p:nvSpPr>
        <p:spPr>
          <a:xfrm>
            <a:off x="395288" y="692150"/>
            <a:ext cx="6159500"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70488F4B-C8AB-4DED-82A3-6F6C06D43A36}" type="slidenum">
              <a:rPr lang="en-US" smtClean="0"/>
              <a:t>‹#›</a:t>
            </a:fld>
            <a:endParaRPr lang="en-US"/>
          </a:p>
        </p:txBody>
      </p:sp>
    </p:spTree>
    <p:extLst>
      <p:ext uri="{BB962C8B-B14F-4D97-AF65-F5344CB8AC3E}">
        <p14:creationId xmlns:p14="http://schemas.microsoft.com/office/powerpoint/2010/main" val="2943650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Session: Data Driven Methods and Data Processing (13:00-14:20, Next Tuesday on 18</a:t>
            </a:r>
            <a:r>
              <a:rPr lang="en-US" baseline="30000"/>
              <a:t>th</a:t>
            </a:r>
            <a:r>
              <a:rPr lang="en-US"/>
              <a:t> June), 4 talk per session, hence 20 mins per talk I believe</a:t>
            </a:r>
          </a:p>
        </p:txBody>
      </p:sp>
      <p:sp>
        <p:nvSpPr>
          <p:cNvPr id="4" name="Slide Number Placeholder 3"/>
          <p:cNvSpPr>
            <a:spLocks noGrp="1"/>
          </p:cNvSpPr>
          <p:nvPr>
            <p:ph type="sldNum" sz="quarter" idx="5"/>
          </p:nvPr>
        </p:nvSpPr>
        <p:spPr/>
        <p:txBody>
          <a:bodyPr/>
          <a:lstStyle/>
          <a:p>
            <a:fld id="{70488F4B-C8AB-4DED-82A3-6F6C06D43A36}" type="slidenum">
              <a:rPr lang="en-US" smtClean="0"/>
              <a:t>1</a:t>
            </a:fld>
            <a:endParaRPr lang="en-US"/>
          </a:p>
        </p:txBody>
      </p:sp>
    </p:spTree>
    <p:extLst>
      <p:ext uri="{BB962C8B-B14F-4D97-AF65-F5344CB8AC3E}">
        <p14:creationId xmlns:p14="http://schemas.microsoft.com/office/powerpoint/2010/main" val="2264079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a:t>Progression free survival (PFS): It is the measure of time that is taken from the start of a treatment or intervention until the disease progresses or worsens or until the patient experiences death from any cause which ever occurs first</a:t>
            </a:r>
          </a:p>
          <a:p>
            <a:endParaRPr lang="en-US"/>
          </a:p>
        </p:txBody>
      </p:sp>
      <p:sp>
        <p:nvSpPr>
          <p:cNvPr id="4" name="Slide Number Placeholder 3"/>
          <p:cNvSpPr>
            <a:spLocks noGrp="1"/>
          </p:cNvSpPr>
          <p:nvPr>
            <p:ph type="sldNum" sz="quarter" idx="5"/>
          </p:nvPr>
        </p:nvSpPr>
        <p:spPr/>
        <p:txBody>
          <a:bodyPr/>
          <a:lstStyle/>
          <a:p>
            <a:fld id="{70488F4B-C8AB-4DED-82A3-6F6C06D43A36}" type="slidenum">
              <a:rPr lang="en-US" smtClean="0"/>
              <a:t>3</a:t>
            </a:fld>
            <a:endParaRPr lang="en-US"/>
          </a:p>
        </p:txBody>
      </p:sp>
    </p:spTree>
    <p:extLst>
      <p:ext uri="{BB962C8B-B14F-4D97-AF65-F5344CB8AC3E}">
        <p14:creationId xmlns:p14="http://schemas.microsoft.com/office/powerpoint/2010/main" val="3984407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r>
              <a:rPr lang="en-US"/>
              <a:t>Progression free survival (PFS): It is the measure of time that is taken from the start of a treatment or intervention until the disease progresses or worsens or until the patient experiences death from any cause which ever occurs first</a:t>
            </a:r>
          </a:p>
          <a:p>
            <a:endParaRPr lang="en-US"/>
          </a:p>
        </p:txBody>
      </p:sp>
      <p:sp>
        <p:nvSpPr>
          <p:cNvPr id="4" name="Slide Number Placeholder 3"/>
          <p:cNvSpPr>
            <a:spLocks noGrp="1"/>
          </p:cNvSpPr>
          <p:nvPr>
            <p:ph type="sldNum" sz="quarter" idx="5"/>
          </p:nvPr>
        </p:nvSpPr>
        <p:spPr/>
        <p:txBody>
          <a:bodyPr/>
          <a:lstStyle/>
          <a:p>
            <a:fld id="{70488F4B-C8AB-4DED-82A3-6F6C06D43A36}" type="slidenum">
              <a:rPr lang="en-US" smtClean="0"/>
              <a:t>4</a:t>
            </a:fld>
            <a:endParaRPr lang="en-US"/>
          </a:p>
        </p:txBody>
      </p:sp>
    </p:spTree>
    <p:extLst>
      <p:ext uri="{BB962C8B-B14F-4D97-AF65-F5344CB8AC3E}">
        <p14:creationId xmlns:p14="http://schemas.microsoft.com/office/powerpoint/2010/main" val="2543031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Annotation are 2D masks, followed RECIST criteria. Radiomic features aggregated patient wise.</a:t>
                </a:r>
              </a:p>
              <a:p>
                <a:endParaRPr lang="en-US" dirty="0"/>
              </a:p>
              <a:p>
                <a:r>
                  <a:rPr lang="en-US" b="1" u="sng" dirty="0"/>
                  <a:t>Description of modelling pipeline:</a:t>
                </a:r>
              </a:p>
              <a:p>
                <a:r>
                  <a:rPr lang="en-US" dirty="0"/>
                  <a:t>I: II: Clinical features along with Radiomics features</a:t>
                </a:r>
              </a:p>
              <a:p>
                <a:r>
                  <a:rPr lang="en-US" dirty="0"/>
                  <a:t>III:  Principal component-based Dimensionality Reduction applied </a:t>
                </a:r>
                <a:r>
                  <a:rPr lang="en-US" dirty="0" err="1"/>
                  <a:t>separatelyto</a:t>
                </a:r>
                <a:r>
                  <a:rPr lang="en-US" dirty="0"/>
                  <a:t> Baseline and Delta (first followup/baseline</a:t>
                </a:r>
                <a14:m>
                  <m:oMath xmlns:m="http://schemas.openxmlformats.org/officeDocument/2006/math">
                    <m:r>
                      <a:rPr lang="en-US" i="1">
                        <a:latin typeface="Cambria Math" panose="02040503050406030204" pitchFamily="18" charset="0"/>
                      </a:rPr>
                      <m:t>)</m:t>
                    </m:r>
                  </m:oMath>
                </a14:m>
                <a:endParaRPr lang="en-US" dirty="0"/>
              </a:p>
              <a:p>
                <a:r>
                  <a:rPr lang="en-US" dirty="0"/>
                  <a:t>IV. Performance evaluation of different models based on Concordance index (C-index)</a:t>
                </a:r>
              </a:p>
              <a:p>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Annotation are 2D masks, followed RECIST criteria. Radiomic features aggregated patient wise.</a:t>
                </a:r>
              </a:p>
              <a:p>
                <a:endParaRPr lang="en-US" dirty="0"/>
              </a:p>
              <a:p>
                <a:r>
                  <a:rPr lang="en-US" b="1" u="sng" dirty="0"/>
                  <a:t>Description of modelling pipeline:</a:t>
                </a:r>
              </a:p>
              <a:p>
                <a:r>
                  <a:rPr lang="en-US" dirty="0"/>
                  <a:t>I: II: Clinical features along with Radiomics features</a:t>
                </a:r>
              </a:p>
              <a:p>
                <a:r>
                  <a:rPr lang="en-US" dirty="0"/>
                  <a:t>III:  Principal component-based Dimensionality Reduction applied </a:t>
                </a:r>
                <a:r>
                  <a:rPr lang="en-US" dirty="0" err="1"/>
                  <a:t>separatelyto</a:t>
                </a:r>
                <a:r>
                  <a:rPr lang="en-US" dirty="0"/>
                  <a:t> Baseline and Delta (first followup/baseline</a:t>
                </a:r>
                <a:r>
                  <a:rPr lang="en-US" i="0">
                    <a:latin typeface="Cambria Math" panose="02040503050406030204" pitchFamily="18" charset="0"/>
                  </a:rPr>
                  <a:t>)</a:t>
                </a:r>
                <a:endParaRPr lang="en-US" dirty="0"/>
              </a:p>
              <a:p>
                <a:r>
                  <a:rPr lang="en-US" dirty="0"/>
                  <a:t>IV. Performance evaluation of different models based on Concordance index (C-index)</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0488F4B-C8AB-4DED-82A3-6F6C06D43A36}" type="slidenum">
              <a:rPr lang="en-US" smtClean="0"/>
              <a:t>5</a:t>
            </a:fld>
            <a:endParaRPr lang="en-US"/>
          </a:p>
        </p:txBody>
      </p:sp>
    </p:spTree>
    <p:extLst>
      <p:ext uri="{BB962C8B-B14F-4D97-AF65-F5344CB8AC3E}">
        <p14:creationId xmlns:p14="http://schemas.microsoft.com/office/powerpoint/2010/main" val="3066719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t>Plots contains the coefficient estimates and their confidence intervals for each predictor variable</a:t>
            </a:r>
          </a:p>
          <a:p>
            <a:pPr marL="0" indent="0">
              <a:buFont typeface="Arial" panose="020B0604020202020204" pitchFamily="34" charset="0"/>
              <a:buNone/>
            </a:pPr>
            <a:r>
              <a:rPr lang="en-US" sz="1200" dirty="0"/>
              <a:t>Point estimates of hazard ratios are shown as dots and the horizontal lines represent the corresponding confidence interval</a:t>
            </a:r>
          </a:p>
          <a:p>
            <a:pPr marL="0" indent="0">
              <a:buFont typeface="Arial" panose="020B0604020202020204" pitchFamily="34" charset="0"/>
              <a:buNone/>
            </a:pPr>
            <a:r>
              <a:rPr lang="en-US" sz="1200" dirty="0"/>
              <a:t>Hazard ratio (HR) greater than 1 indicates an  increased hazard risk while a HR less than 1 indicates a decreased hazard</a:t>
            </a:r>
          </a:p>
          <a:p>
            <a:pPr marL="0" indent="0">
              <a:buFont typeface="Arial" panose="020B0604020202020204" pitchFamily="34" charset="0"/>
              <a:buNone/>
            </a:pPr>
            <a:endParaRPr lang="en-US" sz="1200" dirty="0"/>
          </a:p>
          <a:p>
            <a:pPr marL="285750" indent="-285750">
              <a:buFont typeface="Arial" panose="020B0604020202020204" pitchFamily="34" charset="0"/>
              <a:buChar char="•"/>
            </a:pPr>
            <a:r>
              <a:rPr lang="en-US" dirty="0"/>
              <a:t>Cox proportional hazard</a:t>
            </a:r>
          </a:p>
          <a:p>
            <a:r>
              <a:rPr lang="en-US" dirty="0"/>
              <a:t>     model fitted on training data</a:t>
            </a:r>
          </a:p>
          <a:p>
            <a:r>
              <a:rPr lang="en-US" dirty="0"/>
              <a:t>      using the reduced</a:t>
            </a:r>
          </a:p>
          <a:p>
            <a:r>
              <a:rPr lang="en-US" dirty="0"/>
              <a:t>     15-dimensional covariate vector</a:t>
            </a:r>
          </a:p>
          <a:p>
            <a:endParaRPr lang="en-US" dirty="0"/>
          </a:p>
          <a:p>
            <a:pPr marL="285750" indent="-285750">
              <a:buFont typeface="Arial" panose="020B0604020202020204" pitchFamily="34" charset="0"/>
              <a:buChar char="•"/>
            </a:pPr>
            <a:r>
              <a:rPr lang="en-US" dirty="0"/>
              <a:t>Coefficients of the fitted model</a:t>
            </a:r>
          </a:p>
          <a:p>
            <a:r>
              <a:rPr lang="en-US" dirty="0"/>
              <a:t>      show delta radiomics, treatment arm</a:t>
            </a:r>
          </a:p>
          <a:p>
            <a:r>
              <a:rPr lang="en-US" dirty="0"/>
              <a:t>      and liver involvement to be significant</a:t>
            </a:r>
          </a:p>
          <a:p>
            <a:r>
              <a:rPr lang="en-US" dirty="0"/>
              <a:t>      (shown in red as p value &lt;0.05)</a:t>
            </a:r>
          </a:p>
          <a:p>
            <a:endParaRPr lang="en-US" dirty="0"/>
          </a:p>
          <a:p>
            <a:pPr marL="285750" indent="-285750">
              <a:buFont typeface="Arial" panose="020B0604020202020204" pitchFamily="34" charset="0"/>
              <a:buChar char="•"/>
            </a:pPr>
            <a:r>
              <a:rPr lang="en-US" dirty="0"/>
              <a:t>Ribociclib has significant negative </a:t>
            </a:r>
          </a:p>
          <a:p>
            <a:r>
              <a:rPr lang="en-US" dirty="0"/>
              <a:t>     coefficient, illustrating efficiency in </a:t>
            </a:r>
          </a:p>
          <a:p>
            <a:r>
              <a:rPr lang="en-US" dirty="0"/>
              <a:t>     reducing hazard</a:t>
            </a:r>
          </a:p>
          <a:p>
            <a:endParaRPr lang="en-US" dirty="0"/>
          </a:p>
          <a:p>
            <a:pPr marL="285750" indent="-285750">
              <a:buFont typeface="Arial" panose="020B0604020202020204" pitchFamily="34" charset="0"/>
              <a:buChar char="•"/>
            </a:pPr>
            <a:r>
              <a:rPr lang="en-US" dirty="0"/>
              <a:t>Interactions between delta-radiomics</a:t>
            </a:r>
          </a:p>
          <a:p>
            <a:r>
              <a:rPr lang="en-US" dirty="0"/>
              <a:t>     and clinical features considered </a:t>
            </a:r>
          </a:p>
          <a:p>
            <a:endParaRPr lang="en-US" dirty="0"/>
          </a:p>
          <a:p>
            <a:pPr marL="285750" indent="-285750">
              <a:buFont typeface="Arial" panose="020B0604020202020204" pitchFamily="34" charset="0"/>
              <a:buChar char="•"/>
            </a:pPr>
            <a:endParaRPr lang="en-US" dirty="0"/>
          </a:p>
          <a:p>
            <a:r>
              <a:rPr lang="en-US" dirty="0"/>
              <a:t>    </a:t>
            </a:r>
          </a:p>
          <a:p>
            <a:pPr marL="0" indent="0">
              <a:buFont typeface="Arial" panose="020B0604020202020204" pitchFamily="34" charset="0"/>
              <a:buNone/>
            </a:pPr>
            <a:endParaRPr lang="en-US" sz="1200" dirty="0"/>
          </a:p>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7</a:t>
            </a:fld>
            <a:endParaRPr lang="en-US"/>
          </a:p>
        </p:txBody>
      </p:sp>
    </p:spTree>
    <p:extLst>
      <p:ext uri="{BB962C8B-B14F-4D97-AF65-F5344CB8AC3E}">
        <p14:creationId xmlns:p14="http://schemas.microsoft.com/office/powerpoint/2010/main" val="2600474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index being a rank-based measure, is not always a true measure. ‘Good ness of fit’</a:t>
            </a:r>
          </a:p>
          <a:p>
            <a:r>
              <a:rPr lang="en-US" dirty="0"/>
              <a:t>Spearman rank correlation is a non-parametric measure of association between two variables. It does not require the variables to bear a linear relationship or to be normally distributed.</a:t>
            </a:r>
          </a:p>
          <a:p>
            <a:r>
              <a:rPr lang="en-US" sz="1200" dirty="0"/>
              <a:t>Additional Interaction terms in the  Interaction model:  Drug and significant PC from Delta radiomics, Drug and LiverBL, Significant PC and LiverBL</a:t>
            </a:r>
          </a:p>
          <a:p>
            <a:endParaRPr lang="en-US" dirty="0"/>
          </a:p>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8</a:t>
            </a:fld>
            <a:endParaRPr lang="en-US"/>
          </a:p>
        </p:txBody>
      </p:sp>
    </p:spTree>
    <p:extLst>
      <p:ext uri="{BB962C8B-B14F-4D97-AF65-F5344CB8AC3E}">
        <p14:creationId xmlns:p14="http://schemas.microsoft.com/office/powerpoint/2010/main" val="40689158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8" name="Picture 7" descr="FDA_B&amp;W_Primary_logo.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4545" y="261449"/>
            <a:ext cx="3459480" cy="720852"/>
          </a:xfrm>
          <a:prstGeom prst="rect">
            <a:avLst/>
          </a:prstGeom>
        </p:spPr>
      </p:pic>
      <p:sp>
        <p:nvSpPr>
          <p:cNvPr id="7" name="Rectangle 6"/>
          <p:cNvSpPr/>
          <p:nvPr userDrawn="1"/>
        </p:nvSpPr>
        <p:spPr>
          <a:xfrm>
            <a:off x="106680" y="76199"/>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AEC7C57C-F919-4847-AC6A-BBFB534B4853}"/>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a:solidFill>
                  <a:srgbClr val="007CBA"/>
                </a:solidFill>
              </a:rPr>
              <a:t>OSEL </a:t>
            </a:r>
            <a:r>
              <a:rPr lang="en-US" sz="1400" b="0"/>
              <a:t>Accelerating patient access to innovative, safe, and effective medical devices through best-in-the-world regulatory science</a:t>
            </a:r>
          </a:p>
        </p:txBody>
      </p:sp>
      <p:sp>
        <p:nvSpPr>
          <p:cNvPr id="5" name="Slide Number Placeholder 5">
            <a:extLst>
              <a:ext uri="{FF2B5EF4-FFF2-40B4-BE49-F238E27FC236}">
                <a16:creationId xmlns:a16="http://schemas.microsoft.com/office/drawing/2014/main" id="{54BB9D7A-3210-8699-6BA3-95EFD69D9014}"/>
              </a:ext>
            </a:extLst>
          </p:cNvPr>
          <p:cNvSpPr>
            <a:spLocks noGrp="1"/>
          </p:cNvSpPr>
          <p:nvPr>
            <p:ph type="sldNum" sz="quarter" idx="4"/>
          </p:nvPr>
        </p:nvSpPr>
        <p:spPr>
          <a:xfrm>
            <a:off x="9347200" y="648906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1073698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1800" y="143331"/>
            <a:ext cx="10518081" cy="926020"/>
          </a:xfrm>
        </p:spPr>
        <p:txBody>
          <a:bodyPr>
            <a:normAutofit/>
          </a:bodyPr>
          <a:lstStyle>
            <a:lvl1pPr>
              <a:defRPr sz="3200" b="1">
                <a:solidFill>
                  <a:srgbClr val="0070C0"/>
                </a:solidFill>
              </a:defRPr>
            </a:lvl1pPr>
          </a:lstStyle>
          <a:p>
            <a:r>
              <a:rPr lang="en-US"/>
              <a:t>Click to edit Master title style</a:t>
            </a:r>
          </a:p>
        </p:txBody>
      </p:sp>
      <p:sp>
        <p:nvSpPr>
          <p:cNvPr id="3" name="Content Placeholder 2"/>
          <p:cNvSpPr>
            <a:spLocks noGrp="1"/>
          </p:cNvSpPr>
          <p:nvPr>
            <p:ph idx="1"/>
          </p:nvPr>
        </p:nvSpPr>
        <p:spPr>
          <a:xfrm>
            <a:off x="431801" y="1414131"/>
            <a:ext cx="11345471" cy="4881688"/>
          </a:xfrm>
        </p:spPr>
        <p:txBody>
          <a:bodyPr>
            <a:normAutofit/>
          </a:bodyPr>
          <a:lstStyle>
            <a:lvl1pPr>
              <a:defRPr sz="2800">
                <a:solidFill>
                  <a:schemeClr val="tx1"/>
                </a:solidFill>
              </a:defRPr>
            </a:lvl1pPr>
            <a:lvl2pPr>
              <a:defRPr sz="2400">
                <a:solidFill>
                  <a:srgbClr val="0070C0"/>
                </a:solidFill>
              </a:defRPr>
            </a:lvl2pPr>
            <a:lvl3pPr>
              <a:defRPr sz="2000"/>
            </a:lvl3pPr>
            <a:lvl4pPr>
              <a:defRPr sz="1800"/>
            </a:lvl4pPr>
            <a:lvl5pPr>
              <a:defRPr sz="1800">
                <a:solidFill>
                  <a:srgbClr val="0070C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FDA_FullColor_Monogram.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75292" y="245915"/>
            <a:ext cx="601980" cy="720852"/>
          </a:xfrm>
          <a:prstGeom prst="rect">
            <a:avLst/>
          </a:prstGeom>
        </p:spPr>
      </p:pic>
      <p:sp>
        <p:nvSpPr>
          <p:cNvPr id="8" name="Rectangle 7"/>
          <p:cNvSpPr/>
          <p:nvPr userDrawn="1"/>
        </p:nvSpPr>
        <p:spPr>
          <a:xfrm>
            <a:off x="106680" y="76200"/>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BA6D88FB-2897-420A-9BA9-DF40DA84595C}"/>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a:solidFill>
                  <a:srgbClr val="007CBA"/>
                </a:solidFill>
              </a:rPr>
              <a:t>OSEL </a:t>
            </a:r>
            <a:r>
              <a:rPr lang="en-US" sz="1400" b="0"/>
              <a:t>Accelerating patient access to innovative, safe, and effective medical devices through best-in-the-world regulatory science</a:t>
            </a:r>
          </a:p>
        </p:txBody>
      </p:sp>
      <p:sp>
        <p:nvSpPr>
          <p:cNvPr id="4" name="Slide Number Placeholder 5">
            <a:extLst>
              <a:ext uri="{FF2B5EF4-FFF2-40B4-BE49-F238E27FC236}">
                <a16:creationId xmlns:a16="http://schemas.microsoft.com/office/drawing/2014/main" id="{FA5CC46F-03A3-8AEE-F051-2233AE6FDEAD}"/>
              </a:ext>
            </a:extLst>
          </p:cNvPr>
          <p:cNvSpPr>
            <a:spLocks noGrp="1"/>
          </p:cNvSpPr>
          <p:nvPr>
            <p:ph type="sldNum" sz="quarter" idx="4"/>
          </p:nvPr>
        </p:nvSpPr>
        <p:spPr>
          <a:xfrm>
            <a:off x="9347200" y="648906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3029174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31800" y="143331"/>
            <a:ext cx="10518081" cy="926020"/>
          </a:xfrm>
        </p:spPr>
        <p:txBody>
          <a:bodyPr>
            <a:normAutofit/>
          </a:bodyPr>
          <a:lstStyle>
            <a:lvl1pPr>
              <a:defRPr sz="3200" b="1">
                <a:solidFill>
                  <a:srgbClr val="0070C0"/>
                </a:solidFill>
              </a:defRPr>
            </a:lvl1pPr>
          </a:lstStyle>
          <a:p>
            <a:r>
              <a:rPr lang="en-US"/>
              <a:t>Click to edit Master title style</a:t>
            </a:r>
          </a:p>
        </p:txBody>
      </p:sp>
      <p:pic>
        <p:nvPicPr>
          <p:cNvPr id="7" name="Picture 6" descr="FDA_FullColor_Monogram.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81107" y="242500"/>
            <a:ext cx="601980" cy="720852"/>
          </a:xfrm>
          <a:prstGeom prst="rect">
            <a:avLst/>
          </a:prstGeom>
        </p:spPr>
      </p:pic>
      <p:sp>
        <p:nvSpPr>
          <p:cNvPr id="8" name="Rectangle 7"/>
          <p:cNvSpPr/>
          <p:nvPr userDrawn="1"/>
        </p:nvSpPr>
        <p:spPr>
          <a:xfrm>
            <a:off x="106680" y="76200"/>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56925690-D8C7-4C46-ACF3-CD93011134AD}"/>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a:solidFill>
                  <a:srgbClr val="007CBA"/>
                </a:solidFill>
              </a:rPr>
              <a:t>OSEL </a:t>
            </a:r>
            <a:r>
              <a:rPr lang="en-US" sz="1400" b="0"/>
              <a:t>Accelerating patient access to innovative, safe, and effective medical devices through best-in-the-world regulatory science</a:t>
            </a:r>
          </a:p>
        </p:txBody>
      </p:sp>
      <p:sp>
        <p:nvSpPr>
          <p:cNvPr id="3" name="Slide Number Placeholder 5">
            <a:extLst>
              <a:ext uri="{FF2B5EF4-FFF2-40B4-BE49-F238E27FC236}">
                <a16:creationId xmlns:a16="http://schemas.microsoft.com/office/drawing/2014/main" id="{B23FDD4E-2CD8-1E13-5D1E-501B2DBC6EED}"/>
              </a:ext>
            </a:extLst>
          </p:cNvPr>
          <p:cNvSpPr>
            <a:spLocks noGrp="1"/>
          </p:cNvSpPr>
          <p:nvPr>
            <p:ph type="sldNum" sz="quarter" idx="4"/>
          </p:nvPr>
        </p:nvSpPr>
        <p:spPr>
          <a:xfrm>
            <a:off x="9347200" y="648906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1805775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4_Blank">
    <p:bg>
      <p:bgRef idx="1001">
        <a:schemeClr val="bg1"/>
      </p:bgRef>
    </p:bg>
    <p:spTree>
      <p:nvGrpSpPr>
        <p:cNvPr id="1" name=""/>
        <p:cNvGrpSpPr/>
        <p:nvPr/>
      </p:nvGrpSpPr>
      <p:grpSpPr>
        <a:xfrm>
          <a:off x="0" y="0"/>
          <a:ext cx="0" cy="0"/>
          <a:chOff x="0" y="0"/>
          <a:chExt cx="0" cy="0"/>
        </a:xfrm>
      </p:grpSpPr>
      <p:sp>
        <p:nvSpPr>
          <p:cNvPr id="3" name="Rectangle 2"/>
          <p:cNvSpPr/>
          <p:nvPr userDrawn="1"/>
        </p:nvSpPr>
        <p:spPr>
          <a:xfrm>
            <a:off x="106680" y="76200"/>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Date Placeholder 3">
            <a:extLst>
              <a:ext uri="{FF2B5EF4-FFF2-40B4-BE49-F238E27FC236}">
                <a16:creationId xmlns:a16="http://schemas.microsoft.com/office/drawing/2014/main" id="{0E856B54-8F9F-4901-A29D-E7CB46A48E37}"/>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a:solidFill>
                  <a:srgbClr val="007CBA"/>
                </a:solidFill>
              </a:rPr>
              <a:t>OSEL </a:t>
            </a:r>
            <a:r>
              <a:rPr lang="en-US" sz="1400" b="0"/>
              <a:t>Accelerating patient access to innovative, safe, and effective medical devices through best-in-the-world regulatory science</a:t>
            </a:r>
          </a:p>
        </p:txBody>
      </p:sp>
      <p:sp>
        <p:nvSpPr>
          <p:cNvPr id="2" name="Slide Number Placeholder 5">
            <a:extLst>
              <a:ext uri="{FF2B5EF4-FFF2-40B4-BE49-F238E27FC236}">
                <a16:creationId xmlns:a16="http://schemas.microsoft.com/office/drawing/2014/main" id="{4D53363E-E130-61BE-0307-9E1D26C3BCCA}"/>
              </a:ext>
            </a:extLst>
          </p:cNvPr>
          <p:cNvSpPr>
            <a:spLocks noGrp="1"/>
          </p:cNvSpPr>
          <p:nvPr>
            <p:ph type="sldNum" sz="quarter" idx="4"/>
          </p:nvPr>
        </p:nvSpPr>
        <p:spPr>
          <a:xfrm>
            <a:off x="9347200" y="648906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215714615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5_Title Slide (Blac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rgbClr val="336699"/>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8" name="Picture 7" descr="FDA_B&amp;W_Primary_logo.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24019" y="261425"/>
            <a:ext cx="3459480" cy="720852"/>
          </a:xfrm>
          <a:prstGeom prst="rect">
            <a:avLst/>
          </a:prstGeom>
        </p:spPr>
      </p:pic>
      <p:sp>
        <p:nvSpPr>
          <p:cNvPr id="7" name="Rectangle 6"/>
          <p:cNvSpPr/>
          <p:nvPr userDrawn="1"/>
        </p:nvSpPr>
        <p:spPr>
          <a:xfrm>
            <a:off x="106680" y="76200"/>
            <a:ext cx="11978640" cy="64922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C089B881-5DDA-4F66-92BF-A37E3A43EBDC}"/>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a:solidFill>
                  <a:srgbClr val="007CBA"/>
                </a:solidFill>
              </a:rPr>
              <a:t>OSEL </a:t>
            </a:r>
            <a:r>
              <a:rPr lang="en-US" sz="1400" b="0"/>
              <a:t>Accelerating patient access to innovative, safe, and effective medical devices through best-in-the-world regulatory science</a:t>
            </a:r>
          </a:p>
        </p:txBody>
      </p:sp>
      <p:sp>
        <p:nvSpPr>
          <p:cNvPr id="4" name="Slide Number Placeholder 5">
            <a:extLst>
              <a:ext uri="{FF2B5EF4-FFF2-40B4-BE49-F238E27FC236}">
                <a16:creationId xmlns:a16="http://schemas.microsoft.com/office/drawing/2014/main" id="{0CB0E01D-89C2-6B99-F184-140A12FD1A80}"/>
              </a:ext>
            </a:extLst>
          </p:cNvPr>
          <p:cNvSpPr>
            <a:spLocks noGrp="1"/>
          </p:cNvSpPr>
          <p:nvPr>
            <p:ph type="sldNum" sz="quarter" idx="4"/>
          </p:nvPr>
        </p:nvSpPr>
        <p:spPr>
          <a:xfrm>
            <a:off x="9347200" y="648906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192786339"/>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6_Title and Content (Black)">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31800" y="156778"/>
            <a:ext cx="10518081" cy="926020"/>
          </a:xfrm>
        </p:spPr>
        <p:txBody>
          <a:bodyPr>
            <a:normAutofit/>
          </a:bodyPr>
          <a:lstStyle>
            <a:lvl1pPr>
              <a:defRPr sz="3600" b="1">
                <a:solidFill>
                  <a:srgbClr val="336699"/>
                </a:solidFill>
              </a:defRPr>
            </a:lvl1pPr>
          </a:lstStyle>
          <a:p>
            <a:r>
              <a:rPr lang="en-US"/>
              <a:t>Click to edit Master title style</a:t>
            </a:r>
          </a:p>
        </p:txBody>
      </p:sp>
      <p:sp>
        <p:nvSpPr>
          <p:cNvPr id="3" name="Content Placeholder 2"/>
          <p:cNvSpPr>
            <a:spLocks noGrp="1"/>
          </p:cNvSpPr>
          <p:nvPr>
            <p:ph idx="1"/>
          </p:nvPr>
        </p:nvSpPr>
        <p:spPr>
          <a:xfrm>
            <a:off x="431801" y="1414131"/>
            <a:ext cx="11345471" cy="4881688"/>
          </a:xfrm>
        </p:spPr>
        <p:txBody>
          <a:bodyPr>
            <a:normAutofit/>
          </a:bodyPr>
          <a:lstStyle>
            <a:lvl1pPr>
              <a:defRPr sz="2800">
                <a:solidFill>
                  <a:schemeClr val="tx1"/>
                </a:solidFill>
              </a:defRPr>
            </a:lvl1pPr>
            <a:lvl2pPr>
              <a:defRPr sz="2400">
                <a:solidFill>
                  <a:srgbClr val="336699"/>
                </a:solidFill>
              </a:defRPr>
            </a:lvl2pPr>
            <a:lvl3pPr>
              <a:defRPr sz="2000"/>
            </a:lvl3pPr>
            <a:lvl4pPr>
              <a:defRPr sz="1800"/>
            </a:lvl4pPr>
            <a:lvl5pPr>
              <a:defRPr sz="1800">
                <a:solidFill>
                  <a:srgbClr val="00669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FDA_FullColor_Monogram.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75292" y="259362"/>
            <a:ext cx="601980" cy="720852"/>
          </a:xfrm>
          <a:prstGeom prst="rect">
            <a:avLst/>
          </a:prstGeom>
        </p:spPr>
      </p:pic>
      <p:sp>
        <p:nvSpPr>
          <p:cNvPr id="8" name="Rectangle 7"/>
          <p:cNvSpPr/>
          <p:nvPr userDrawn="1"/>
        </p:nvSpPr>
        <p:spPr>
          <a:xfrm>
            <a:off x="106680" y="76200"/>
            <a:ext cx="11978640" cy="64922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E9E949EE-37C9-4321-84AD-2F45F421D32E}"/>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a:solidFill>
                  <a:srgbClr val="007CBA"/>
                </a:solidFill>
              </a:rPr>
              <a:t>OSEL </a:t>
            </a:r>
            <a:r>
              <a:rPr lang="en-US" sz="1400" b="0"/>
              <a:t>Accelerating patient access to innovative, safe, and effective medical devices through best-in-the-world regulatory science</a:t>
            </a:r>
          </a:p>
        </p:txBody>
      </p:sp>
      <p:sp>
        <p:nvSpPr>
          <p:cNvPr id="4" name="Slide Number Placeholder 5">
            <a:extLst>
              <a:ext uri="{FF2B5EF4-FFF2-40B4-BE49-F238E27FC236}">
                <a16:creationId xmlns:a16="http://schemas.microsoft.com/office/drawing/2014/main" id="{5A0E01D6-7947-EE4D-94D9-2FD94E5D04E5}"/>
              </a:ext>
            </a:extLst>
          </p:cNvPr>
          <p:cNvSpPr>
            <a:spLocks noGrp="1"/>
          </p:cNvSpPr>
          <p:nvPr>
            <p:ph type="sldNum" sz="quarter" idx="4"/>
          </p:nvPr>
        </p:nvSpPr>
        <p:spPr>
          <a:xfrm>
            <a:off x="9347200" y="648906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347116872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1126301765"/>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66" r:id="rId3"/>
    <p:sldLayoutId id="2147483665" r:id="rId4"/>
    <p:sldLayoutId id="2147483662" r:id="rId5"/>
    <p:sldLayoutId id="2147483661" r:id="rId6"/>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8C_E3EDB405.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90_1471C69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8E_E11F6994.xm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8F_B20409D5.xm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microsoft.com/office/2018/10/relationships/comments" Target="../comments/modernComment_340_A9FFADCE.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00245" y="1391050"/>
            <a:ext cx="10791511" cy="1470025"/>
          </a:xfrm>
        </p:spPr>
        <p:txBody>
          <a:bodyPr>
            <a:normAutofit fontScale="90000"/>
          </a:bodyPr>
          <a:lstStyle/>
          <a:p>
            <a:r>
              <a:rPr lang="en-US" sz="4000" b="1" cap="small" dirty="0">
                <a:solidFill>
                  <a:srgbClr val="007CBA"/>
                </a:solidFill>
              </a:rPr>
              <a:t>Early assessment of progression free survival in metastatic breast cancer: Preliminary multi-</a:t>
            </a:r>
            <a:r>
              <a:rPr lang="en-US" sz="4000" b="1" cap="small" dirty="0" err="1">
                <a:solidFill>
                  <a:srgbClr val="007CBA"/>
                </a:solidFill>
              </a:rPr>
              <a:t>omic</a:t>
            </a:r>
            <a:r>
              <a:rPr lang="en-US" sz="4000" b="1" cap="small" dirty="0">
                <a:solidFill>
                  <a:srgbClr val="007CBA"/>
                </a:solidFill>
              </a:rPr>
              <a:t> analysis from initial post treatment </a:t>
            </a:r>
            <a:r>
              <a:rPr lang="en-US" sz="4000" b="1" cap="small" dirty="0" err="1">
                <a:solidFill>
                  <a:srgbClr val="007CBA"/>
                </a:solidFill>
              </a:rPr>
              <a:t>ct</a:t>
            </a:r>
            <a:r>
              <a:rPr lang="en-US" sz="4000" b="1" cap="small" dirty="0">
                <a:solidFill>
                  <a:srgbClr val="007CBA"/>
                </a:solidFill>
              </a:rPr>
              <a:t> data</a:t>
            </a:r>
          </a:p>
        </p:txBody>
      </p:sp>
      <p:sp>
        <p:nvSpPr>
          <p:cNvPr id="5" name="Subtitle 4"/>
          <p:cNvSpPr>
            <a:spLocks noGrp="1"/>
          </p:cNvSpPr>
          <p:nvPr>
            <p:ph type="subTitle" idx="1"/>
          </p:nvPr>
        </p:nvSpPr>
        <p:spPr>
          <a:xfrm>
            <a:off x="1410832" y="3237186"/>
            <a:ext cx="9370337" cy="2401614"/>
          </a:xfrm>
        </p:spPr>
        <p:txBody>
          <a:bodyPr>
            <a:normAutofit fontScale="85000" lnSpcReduction="10000"/>
          </a:bodyPr>
          <a:lstStyle/>
          <a:p>
            <a:r>
              <a:rPr lang="en-US" sz="2400" b="1" dirty="0">
                <a:solidFill>
                  <a:schemeClr val="tx1"/>
                </a:solidFill>
              </a:rPr>
              <a:t>Subrata Mukherjee</a:t>
            </a:r>
            <a:r>
              <a:rPr lang="en-US" sz="2400" b="1" baseline="30000" dirty="0">
                <a:solidFill>
                  <a:schemeClr val="tx1"/>
                </a:solidFill>
              </a:rPr>
              <a:t>1</a:t>
            </a:r>
            <a:r>
              <a:rPr lang="en-US" sz="2400" b="1" dirty="0">
                <a:solidFill>
                  <a:schemeClr val="tx1"/>
                </a:solidFill>
              </a:rPr>
              <a:t>, Qian Cao</a:t>
            </a:r>
            <a:r>
              <a:rPr lang="en-US" sz="2400" b="1" baseline="30000" dirty="0">
                <a:solidFill>
                  <a:schemeClr val="tx1"/>
                </a:solidFill>
              </a:rPr>
              <a:t>1 </a:t>
            </a:r>
            <a:r>
              <a:rPr lang="en-US" sz="2400" b="1" dirty="0">
                <a:solidFill>
                  <a:schemeClr val="tx1"/>
                </a:solidFill>
              </a:rPr>
              <a:t>, Thibaud Coroller</a:t>
            </a:r>
            <a:r>
              <a:rPr lang="en-US" sz="2400" b="1" baseline="30000" dirty="0">
                <a:solidFill>
                  <a:schemeClr val="tx1"/>
                </a:solidFill>
              </a:rPr>
              <a:t>2</a:t>
            </a:r>
            <a:r>
              <a:rPr lang="en-US" sz="2400" b="1" dirty="0">
                <a:solidFill>
                  <a:schemeClr val="tx1"/>
                </a:solidFill>
              </a:rPr>
              <a:t>, Craig Wang</a:t>
            </a:r>
            <a:r>
              <a:rPr lang="en-US" sz="2400" b="1" baseline="30000" dirty="0">
                <a:solidFill>
                  <a:schemeClr val="tx1"/>
                </a:solidFill>
              </a:rPr>
              <a:t>2</a:t>
            </a:r>
            <a:r>
              <a:rPr lang="en-US" sz="2400" b="1" dirty="0">
                <a:solidFill>
                  <a:schemeClr val="tx1"/>
                </a:solidFill>
              </a:rPr>
              <a:t>, Ravi K. Samala</a:t>
            </a:r>
            <a:r>
              <a:rPr lang="en-US" sz="2400" b="1" baseline="30000" dirty="0">
                <a:solidFill>
                  <a:schemeClr val="tx1"/>
                </a:solidFill>
              </a:rPr>
              <a:t>1</a:t>
            </a:r>
            <a:r>
              <a:rPr lang="en-US" sz="2400" b="1" dirty="0">
                <a:solidFill>
                  <a:schemeClr val="tx1"/>
                </a:solidFill>
              </a:rPr>
              <a:t>, </a:t>
            </a:r>
            <a:br>
              <a:rPr lang="en-US" sz="2400" b="1" dirty="0">
                <a:solidFill>
                  <a:schemeClr val="tx1"/>
                </a:solidFill>
              </a:rPr>
            </a:br>
            <a:r>
              <a:rPr lang="en-US" sz="2400" b="1" dirty="0">
                <a:solidFill>
                  <a:schemeClr val="tx1"/>
                </a:solidFill>
              </a:rPr>
              <a:t>Julie A. Schneider</a:t>
            </a:r>
            <a:r>
              <a:rPr lang="en-US" sz="2400" b="1" baseline="30000" dirty="0">
                <a:solidFill>
                  <a:schemeClr val="tx1"/>
                </a:solidFill>
              </a:rPr>
              <a:t>3</a:t>
            </a:r>
            <a:r>
              <a:rPr lang="en-US" sz="2400" b="1" dirty="0">
                <a:solidFill>
                  <a:schemeClr val="tx1"/>
                </a:solidFill>
              </a:rPr>
              <a:t>, Laleh Amiri Kordestani</a:t>
            </a:r>
            <a:r>
              <a:rPr lang="en-US" sz="2400" b="1" baseline="30000" dirty="0">
                <a:solidFill>
                  <a:schemeClr val="tx1"/>
                </a:solidFill>
              </a:rPr>
              <a:t>4</a:t>
            </a:r>
            <a:r>
              <a:rPr lang="en-US" sz="2400" b="1" dirty="0">
                <a:solidFill>
                  <a:schemeClr val="tx1"/>
                </a:solidFill>
              </a:rPr>
              <a:t>, Berkman Sahiner</a:t>
            </a:r>
            <a:r>
              <a:rPr lang="en-US" sz="2400" b="1" baseline="30000" dirty="0">
                <a:solidFill>
                  <a:schemeClr val="tx1"/>
                </a:solidFill>
              </a:rPr>
              <a:t>1</a:t>
            </a:r>
            <a:r>
              <a:rPr lang="en-US" sz="2400" b="1" dirty="0">
                <a:solidFill>
                  <a:schemeClr val="tx1"/>
                </a:solidFill>
              </a:rPr>
              <a:t>, Nicholas Petrick</a:t>
            </a:r>
            <a:r>
              <a:rPr lang="en-US" sz="2400" b="1" baseline="30000" dirty="0">
                <a:solidFill>
                  <a:schemeClr val="tx1"/>
                </a:solidFill>
              </a:rPr>
              <a:t>1</a:t>
            </a:r>
          </a:p>
          <a:p>
            <a:endParaRPr lang="en-US" sz="2400" b="1" dirty="0">
              <a:solidFill>
                <a:schemeClr val="tx1"/>
              </a:solidFill>
            </a:endParaRPr>
          </a:p>
          <a:p>
            <a:r>
              <a:rPr lang="en-US" sz="2000" baseline="30000" dirty="0">
                <a:solidFill>
                  <a:schemeClr val="tx1"/>
                </a:solidFill>
              </a:rPr>
              <a:t>1</a:t>
            </a:r>
            <a:r>
              <a:rPr lang="en-US" sz="2000" dirty="0">
                <a:solidFill>
                  <a:schemeClr val="tx1"/>
                </a:solidFill>
              </a:rPr>
              <a:t>Center for Devices and Radiological Health, </a:t>
            </a:r>
            <a:br>
              <a:rPr lang="en-US" sz="2000" dirty="0">
                <a:solidFill>
                  <a:schemeClr val="tx1"/>
                </a:solidFill>
              </a:rPr>
            </a:br>
            <a:r>
              <a:rPr lang="en-US" sz="2000" baseline="30000" dirty="0">
                <a:solidFill>
                  <a:schemeClr val="tx1"/>
                </a:solidFill>
              </a:rPr>
              <a:t>3</a:t>
            </a:r>
            <a:r>
              <a:rPr lang="en-US" sz="2000" dirty="0">
                <a:solidFill>
                  <a:schemeClr val="tx1"/>
                </a:solidFill>
              </a:rPr>
              <a:t>Oncology Center of Excellence, </a:t>
            </a:r>
            <a:br>
              <a:rPr lang="en-US" sz="2000" dirty="0">
                <a:solidFill>
                  <a:schemeClr val="tx1"/>
                </a:solidFill>
              </a:rPr>
            </a:br>
            <a:r>
              <a:rPr lang="en-US" sz="2000" baseline="30000" dirty="0">
                <a:solidFill>
                  <a:schemeClr val="tx1"/>
                </a:solidFill>
              </a:rPr>
              <a:t>4</a:t>
            </a:r>
            <a:r>
              <a:rPr lang="en-US" sz="2000" dirty="0">
                <a:solidFill>
                  <a:schemeClr val="tx1"/>
                </a:solidFill>
              </a:rPr>
              <a:t>Center for Drug Evaluation and Research</a:t>
            </a:r>
            <a:br>
              <a:rPr lang="en-US" sz="2000" baseline="30000" dirty="0">
                <a:solidFill>
                  <a:schemeClr val="tx1"/>
                </a:solidFill>
              </a:rPr>
            </a:br>
            <a:r>
              <a:rPr lang="en-US" sz="2000" dirty="0">
                <a:solidFill>
                  <a:schemeClr val="tx1"/>
                </a:solidFill>
              </a:rPr>
              <a:t>U.S. Food and Drug Administration</a:t>
            </a:r>
          </a:p>
          <a:p>
            <a:r>
              <a:rPr lang="en-US" sz="2000" baseline="30000" dirty="0">
                <a:solidFill>
                  <a:schemeClr val="tx1"/>
                </a:solidFill>
              </a:rPr>
              <a:t>2</a:t>
            </a:r>
            <a:r>
              <a:rPr lang="en-US" sz="2000" dirty="0">
                <a:solidFill>
                  <a:schemeClr val="tx1"/>
                </a:solidFill>
              </a:rPr>
              <a:t>Novartis Pharmaceutical Corporation</a:t>
            </a:r>
          </a:p>
          <a:p>
            <a:endParaRPr lang="en-US" sz="2000" dirty="0"/>
          </a:p>
          <a:p>
            <a:endParaRPr lang="en-US" sz="2000" dirty="0"/>
          </a:p>
        </p:txBody>
      </p:sp>
      <p:sp>
        <p:nvSpPr>
          <p:cNvPr id="6" name="Footer Placeholder 3"/>
          <p:cNvSpPr txBox="1">
            <a:spLocks/>
          </p:cNvSpPr>
          <p:nvPr/>
        </p:nvSpPr>
        <p:spPr>
          <a:xfrm>
            <a:off x="2888056" y="5896978"/>
            <a:ext cx="6548770" cy="615064"/>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rgbClr val="336699"/>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dirty="0">
                <a:solidFill>
                  <a:srgbClr val="007CBA"/>
                </a:solidFill>
                <a:latin typeface="Helvetica"/>
                <a:cs typeface="Helvetica"/>
              </a:rPr>
              <a:t>Dec. 5</a:t>
            </a:r>
            <a:r>
              <a:rPr lang="en-US" sz="1400" baseline="30000" dirty="0">
                <a:solidFill>
                  <a:srgbClr val="007CBA"/>
                </a:solidFill>
                <a:latin typeface="Helvetica"/>
                <a:cs typeface="Helvetica"/>
              </a:rPr>
              <a:t>th</a:t>
            </a:r>
            <a:r>
              <a:rPr lang="en-US" sz="1400" dirty="0">
                <a:solidFill>
                  <a:srgbClr val="007CBA"/>
                </a:solidFill>
                <a:latin typeface="Helvetica"/>
                <a:cs typeface="Helvetica"/>
              </a:rPr>
              <a:t>, 2024</a:t>
            </a:r>
          </a:p>
        </p:txBody>
      </p:sp>
    </p:spTree>
    <p:extLst>
      <p:ext uri="{BB962C8B-B14F-4D97-AF65-F5344CB8AC3E}">
        <p14:creationId xmlns:p14="http://schemas.microsoft.com/office/powerpoint/2010/main" val="1215084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F7B5C-7B29-46AB-BA06-B12FBEF05993}"/>
              </a:ext>
            </a:extLst>
          </p:cNvPr>
          <p:cNvSpPr>
            <a:spLocks noGrp="1"/>
          </p:cNvSpPr>
          <p:nvPr>
            <p:ph type="title"/>
          </p:nvPr>
        </p:nvSpPr>
        <p:spPr/>
        <p:txBody>
          <a:bodyPr/>
          <a:lstStyle/>
          <a:p>
            <a:r>
              <a:rPr lang="en-US" dirty="0"/>
              <a:t>Disclaimer</a:t>
            </a:r>
          </a:p>
        </p:txBody>
      </p:sp>
      <p:sp>
        <p:nvSpPr>
          <p:cNvPr id="3" name="Content Placeholder 2">
            <a:extLst>
              <a:ext uri="{FF2B5EF4-FFF2-40B4-BE49-F238E27FC236}">
                <a16:creationId xmlns:a16="http://schemas.microsoft.com/office/drawing/2014/main" id="{1C40D321-40B3-4A4B-8BDB-B74F40EB08A0}"/>
              </a:ext>
            </a:extLst>
          </p:cNvPr>
          <p:cNvSpPr>
            <a:spLocks noGrp="1"/>
          </p:cNvSpPr>
          <p:nvPr>
            <p:ph idx="1"/>
          </p:nvPr>
        </p:nvSpPr>
        <p:spPr>
          <a:xfrm>
            <a:off x="431801" y="1895395"/>
            <a:ext cx="11345471" cy="2628479"/>
          </a:xfrm>
        </p:spPr>
        <p:txBody>
          <a:bodyPr>
            <a:normAutofit/>
          </a:bodyPr>
          <a:lstStyle/>
          <a:p>
            <a:pPr marL="342900" indent="-342900"/>
            <a:r>
              <a:rPr lang="en-US" sz="2400" dirty="0"/>
              <a:t>The mention of commercial products, their sources, or their use in connection with material reported herein is not to be construed as either an actual or implied endorsement of such products by the Department of Health and Human Services</a:t>
            </a:r>
          </a:p>
          <a:p>
            <a:pPr marL="342900" indent="-342900"/>
            <a:endParaRPr lang="en-US" sz="2400" dirty="0"/>
          </a:p>
          <a:p>
            <a:pPr marL="342900" indent="-342900"/>
            <a:r>
              <a:rPr lang="en-US" sz="2400" dirty="0"/>
              <a:t>This is a contribution of the U.S. Food and Drug Administration and is not subject to copyright</a:t>
            </a:r>
          </a:p>
          <a:p>
            <a:endParaRPr lang="en-US" sz="2400" dirty="0"/>
          </a:p>
        </p:txBody>
      </p:sp>
      <p:sp>
        <p:nvSpPr>
          <p:cNvPr id="4" name="Slide Number Placeholder 3">
            <a:extLst>
              <a:ext uri="{FF2B5EF4-FFF2-40B4-BE49-F238E27FC236}">
                <a16:creationId xmlns:a16="http://schemas.microsoft.com/office/drawing/2014/main" id="{5E9E8464-1095-4281-A60C-5A9B6160AB78}"/>
              </a:ext>
            </a:extLst>
          </p:cNvPr>
          <p:cNvSpPr>
            <a:spLocks noGrp="1"/>
          </p:cNvSpPr>
          <p:nvPr>
            <p:ph type="sldNum" sz="quarter" idx="12"/>
          </p:nvPr>
        </p:nvSpPr>
        <p:spPr>
          <a:xfrm>
            <a:off x="9217893" y="6559119"/>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D871F5F-C8AF-484B-B19A-A0CBCE8C7764}" type="slidenum">
              <a:rPr lang="en-US" smtClean="0"/>
              <a:pPr/>
              <a:t>2</a:t>
            </a:fld>
            <a:endParaRPr lang="en-US"/>
          </a:p>
        </p:txBody>
      </p:sp>
    </p:spTree>
    <p:extLst>
      <p:ext uri="{BB962C8B-B14F-4D97-AF65-F5344CB8AC3E}">
        <p14:creationId xmlns:p14="http://schemas.microsoft.com/office/powerpoint/2010/main" val="1795164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C19CE-380E-CE02-139C-E13B0676ED73}"/>
              </a:ext>
            </a:extLst>
          </p:cNvPr>
          <p:cNvSpPr>
            <a:spLocks noGrp="1"/>
          </p:cNvSpPr>
          <p:nvPr>
            <p:ph type="title"/>
          </p:nvPr>
        </p:nvSpPr>
        <p:spPr/>
        <p:txBody>
          <a:bodyPr/>
          <a:lstStyle/>
          <a:p>
            <a:r>
              <a:rPr lang="en-US" dirty="0"/>
              <a:t>Background</a:t>
            </a:r>
          </a:p>
        </p:txBody>
      </p:sp>
      <p:sp>
        <p:nvSpPr>
          <p:cNvPr id="4" name="Slide Number Placeholder 3">
            <a:extLst>
              <a:ext uri="{FF2B5EF4-FFF2-40B4-BE49-F238E27FC236}">
                <a16:creationId xmlns:a16="http://schemas.microsoft.com/office/drawing/2014/main" id="{FA984EE5-E067-202C-0A5B-26AA696AC8C8}"/>
              </a:ext>
            </a:extLst>
          </p:cNvPr>
          <p:cNvSpPr>
            <a:spLocks noGrp="1"/>
          </p:cNvSpPr>
          <p:nvPr>
            <p:ph type="sldNum" sz="quarter" idx="4"/>
          </p:nvPr>
        </p:nvSpPr>
        <p:spPr/>
        <p:txBody>
          <a:bodyPr/>
          <a:lstStyle/>
          <a:p>
            <a:fld id="{7D871F5F-C8AF-484B-B19A-A0CBCE8C7764}" type="slidenum">
              <a:rPr lang="en-US" smtClean="0"/>
              <a:t>3</a:t>
            </a:fld>
            <a:endParaRPr lang="en-US"/>
          </a:p>
        </p:txBody>
      </p:sp>
      <p:sp>
        <p:nvSpPr>
          <p:cNvPr id="5" name="TextBox 4">
            <a:extLst>
              <a:ext uri="{FF2B5EF4-FFF2-40B4-BE49-F238E27FC236}">
                <a16:creationId xmlns:a16="http://schemas.microsoft.com/office/drawing/2014/main" id="{EE444FBD-4683-22C6-1BE4-39564469AEFC}"/>
              </a:ext>
            </a:extLst>
          </p:cNvPr>
          <p:cNvSpPr txBox="1"/>
          <p:nvPr/>
        </p:nvSpPr>
        <p:spPr>
          <a:xfrm>
            <a:off x="193968" y="1753564"/>
            <a:ext cx="11804063" cy="3724096"/>
          </a:xfrm>
          <a:prstGeom prst="rect">
            <a:avLst/>
          </a:prstGeom>
          <a:noFill/>
        </p:spPr>
        <p:txBody>
          <a:bodyPr wrap="square" rtlCol="0">
            <a:spAutoFit/>
          </a:bodyPr>
          <a:lstStyle/>
          <a:p>
            <a:pPr marL="285750" indent="-285750">
              <a:buFont typeface="Arial" panose="020B0604020202020204" pitchFamily="34" charset="0"/>
              <a:buChar char="•"/>
            </a:pPr>
            <a:r>
              <a:rPr lang="en-US" sz="2400" b="1" dirty="0"/>
              <a:t>Background: </a:t>
            </a:r>
            <a:r>
              <a:rPr lang="en-US" sz="2400" dirty="0"/>
              <a:t>Early prediction of cancer progression or treatment response can enable personalized cancer treatment.</a:t>
            </a:r>
          </a:p>
          <a:p>
            <a:endParaRPr lang="en-US" sz="2000" dirty="0"/>
          </a:p>
          <a:p>
            <a:pPr marL="285750" indent="-285750">
              <a:buFont typeface="Arial" panose="020B0604020202020204" pitchFamily="34" charset="0"/>
              <a:buChar char="•"/>
            </a:pPr>
            <a:r>
              <a:rPr lang="en-US" sz="2400" b="1" dirty="0"/>
              <a:t>Purpose</a:t>
            </a:r>
            <a:r>
              <a:rPr lang="en-US" sz="2400" dirty="0"/>
              <a:t>: To evaluate and identify radio-genomics-based prognostic and predictive markers of predicting cancer progression.</a:t>
            </a:r>
          </a:p>
          <a:p>
            <a:pPr marL="285750" indent="-285750">
              <a:buFont typeface="Arial" panose="020B0604020202020204" pitchFamily="34" charset="0"/>
              <a:buChar char="•"/>
            </a:pPr>
            <a:endParaRPr lang="en-US" sz="2400" dirty="0"/>
          </a:p>
          <a:p>
            <a:pPr marL="742950" lvl="1" indent="-285750">
              <a:buFont typeface="Arial" panose="020B0604020202020204" pitchFamily="34" charset="0"/>
              <a:buChar char="•"/>
            </a:pPr>
            <a:r>
              <a:rPr lang="en-US" sz="2400" b="1" dirty="0"/>
              <a:t>Retrospective analysis</a:t>
            </a:r>
            <a:r>
              <a:rPr lang="en-US" sz="2400" dirty="0"/>
              <a:t>: Anonymized data from two Phase III (MONALEESA-3 and 7) trials investigating the role of drug </a:t>
            </a:r>
            <a:r>
              <a:rPr lang="en-US" sz="2400" b="1" dirty="0"/>
              <a:t>Ribociclib</a:t>
            </a:r>
            <a:r>
              <a:rPr lang="en-US" sz="2400" dirty="0"/>
              <a:t>: in prolonging progression-free survival (PFS) and overall survival (OS) in patients with metastatic breast cancer (mBC)</a:t>
            </a:r>
          </a:p>
          <a:p>
            <a:pPr marL="742950" lvl="1"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506905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C19CE-380E-CE02-139C-E13B0676ED73}"/>
              </a:ext>
            </a:extLst>
          </p:cNvPr>
          <p:cNvSpPr>
            <a:spLocks noGrp="1"/>
          </p:cNvSpPr>
          <p:nvPr>
            <p:ph type="title"/>
          </p:nvPr>
        </p:nvSpPr>
        <p:spPr/>
        <p:txBody>
          <a:bodyPr/>
          <a:lstStyle/>
          <a:p>
            <a:r>
              <a:rPr lang="en-US" dirty="0"/>
              <a:t>Dataset</a:t>
            </a:r>
          </a:p>
        </p:txBody>
      </p:sp>
      <p:sp>
        <p:nvSpPr>
          <p:cNvPr id="4" name="Slide Number Placeholder 3">
            <a:extLst>
              <a:ext uri="{FF2B5EF4-FFF2-40B4-BE49-F238E27FC236}">
                <a16:creationId xmlns:a16="http://schemas.microsoft.com/office/drawing/2014/main" id="{FA984EE5-E067-202C-0A5B-26AA696AC8C8}"/>
              </a:ext>
            </a:extLst>
          </p:cNvPr>
          <p:cNvSpPr>
            <a:spLocks noGrp="1"/>
          </p:cNvSpPr>
          <p:nvPr>
            <p:ph type="sldNum" sz="quarter" idx="4"/>
          </p:nvPr>
        </p:nvSpPr>
        <p:spPr/>
        <p:txBody>
          <a:bodyPr/>
          <a:lstStyle/>
          <a:p>
            <a:fld id="{7D871F5F-C8AF-484B-B19A-A0CBCE8C7764}" type="slidenum">
              <a:rPr lang="en-US" smtClean="0"/>
              <a:t>4</a:t>
            </a:fld>
            <a:endParaRPr lang="en-US"/>
          </a:p>
        </p:txBody>
      </p:sp>
      <p:sp>
        <p:nvSpPr>
          <p:cNvPr id="6" name="TextBox 5">
            <a:extLst>
              <a:ext uri="{FF2B5EF4-FFF2-40B4-BE49-F238E27FC236}">
                <a16:creationId xmlns:a16="http://schemas.microsoft.com/office/drawing/2014/main" id="{200B3DDC-EB70-A232-8CC5-AA23958FA760}"/>
              </a:ext>
            </a:extLst>
          </p:cNvPr>
          <p:cNvSpPr txBox="1"/>
          <p:nvPr/>
        </p:nvSpPr>
        <p:spPr>
          <a:xfrm>
            <a:off x="142551" y="1031521"/>
            <a:ext cx="11400878" cy="1569660"/>
          </a:xfrm>
          <a:prstGeom prst="rect">
            <a:avLst/>
          </a:prstGeom>
          <a:noFill/>
        </p:spPr>
        <p:txBody>
          <a:bodyPr wrap="none" rtlCol="0">
            <a:spAutoFit/>
          </a:bodyPr>
          <a:lstStyle/>
          <a:p>
            <a:r>
              <a:rPr lang="en-US" sz="2400" b="1" dirty="0"/>
              <a:t>MONALEESA Clinical Trial Data</a:t>
            </a:r>
          </a:p>
          <a:p>
            <a:endParaRPr lang="en-US" sz="2400" dirty="0"/>
          </a:p>
          <a:p>
            <a:pPr marL="742950" lvl="1" indent="-285750">
              <a:buFont typeface="Arial" panose="020B0604020202020204" pitchFamily="34" charset="0"/>
              <a:buChar char="•"/>
            </a:pPr>
            <a:r>
              <a:rPr lang="en-US" sz="2400" i="1" dirty="0"/>
              <a:t>Multimodal</a:t>
            </a:r>
            <a:r>
              <a:rPr lang="en-US" sz="2400" dirty="0"/>
              <a:t> : Imaging, clinical and genomics data collected</a:t>
            </a:r>
          </a:p>
          <a:p>
            <a:pPr marL="742950" lvl="1" indent="-285750">
              <a:buFont typeface="Arial" panose="020B0604020202020204" pitchFamily="34" charset="0"/>
              <a:buChar char="•"/>
            </a:pPr>
            <a:r>
              <a:rPr lang="en-US" sz="2400" i="1" dirty="0"/>
              <a:t>Time-to-Event</a:t>
            </a:r>
            <a:r>
              <a:rPr lang="en-US" sz="2400" b="1" dirty="0"/>
              <a:t> </a:t>
            </a:r>
            <a:r>
              <a:rPr lang="en-US" sz="2400" dirty="0"/>
              <a:t>:</a:t>
            </a:r>
            <a:r>
              <a:rPr lang="en-US" sz="2400" b="1" dirty="0"/>
              <a:t> </a:t>
            </a:r>
            <a:r>
              <a:rPr lang="en-US" sz="2400" dirty="0"/>
              <a:t>Primary endpoint is PFS (right censored) per the RECIST v1.1 criteria</a:t>
            </a:r>
          </a:p>
        </p:txBody>
      </p:sp>
      <p:grpSp>
        <p:nvGrpSpPr>
          <p:cNvPr id="7" name="Group 6">
            <a:extLst>
              <a:ext uri="{FF2B5EF4-FFF2-40B4-BE49-F238E27FC236}">
                <a16:creationId xmlns:a16="http://schemas.microsoft.com/office/drawing/2014/main" id="{91C2D78C-82C8-5C3F-31CC-C25763BC0286}"/>
              </a:ext>
            </a:extLst>
          </p:cNvPr>
          <p:cNvGrpSpPr/>
          <p:nvPr/>
        </p:nvGrpSpPr>
        <p:grpSpPr>
          <a:xfrm>
            <a:off x="316771" y="2868867"/>
            <a:ext cx="11558458" cy="1967707"/>
            <a:chOff x="168871" y="2644819"/>
            <a:chExt cx="8731290" cy="1486410"/>
          </a:xfrm>
        </p:grpSpPr>
        <p:cxnSp>
          <p:nvCxnSpPr>
            <p:cNvPr id="46" name="Straight Arrow Connector 45">
              <a:extLst>
                <a:ext uri="{FF2B5EF4-FFF2-40B4-BE49-F238E27FC236}">
                  <a16:creationId xmlns:a16="http://schemas.microsoft.com/office/drawing/2014/main" id="{76FD380F-038C-7E76-760A-944857B4B81B}"/>
                </a:ext>
              </a:extLst>
            </p:cNvPr>
            <p:cNvCxnSpPr>
              <a:cxnSpLocks/>
            </p:cNvCxnSpPr>
            <p:nvPr/>
          </p:nvCxnSpPr>
          <p:spPr>
            <a:xfrm>
              <a:off x="1199867" y="3695703"/>
              <a:ext cx="5788586" cy="0"/>
            </a:xfrm>
            <a:prstGeom prst="straightConnector1">
              <a:avLst/>
            </a:prstGeom>
            <a:ln w="4445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54148E3-0314-6A6F-BF2F-B937C70E8778}"/>
                </a:ext>
              </a:extLst>
            </p:cNvPr>
            <p:cNvCxnSpPr>
              <a:cxnSpLocks/>
            </p:cNvCxnSpPr>
            <p:nvPr/>
          </p:nvCxnSpPr>
          <p:spPr>
            <a:xfrm>
              <a:off x="1199867" y="3184206"/>
              <a:ext cx="5788586" cy="0"/>
            </a:xfrm>
            <a:prstGeom prst="straightConnector1">
              <a:avLst/>
            </a:prstGeom>
            <a:ln w="4445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6B7A2EF6-DB9E-A0B8-A948-4248F78309A4}"/>
                </a:ext>
              </a:extLst>
            </p:cNvPr>
            <p:cNvSpPr txBox="1"/>
            <p:nvPr/>
          </p:nvSpPr>
          <p:spPr>
            <a:xfrm>
              <a:off x="731213" y="2802412"/>
              <a:ext cx="959517" cy="255744"/>
            </a:xfrm>
            <a:prstGeom prst="rect">
              <a:avLst/>
            </a:prstGeom>
            <a:noFill/>
          </p:spPr>
          <p:txBody>
            <a:bodyPr wrap="square" rtlCol="0">
              <a:spAutoFit/>
            </a:bodyPr>
            <a:lstStyle/>
            <a:p>
              <a:pPr algn="ctr"/>
              <a:r>
                <a:rPr lang="en-US" sz="1600" dirty="0"/>
                <a:t>Baseline</a:t>
              </a:r>
            </a:p>
          </p:txBody>
        </p:sp>
        <p:cxnSp>
          <p:nvCxnSpPr>
            <p:cNvPr id="49" name="Straight Arrow Connector 48">
              <a:extLst>
                <a:ext uri="{FF2B5EF4-FFF2-40B4-BE49-F238E27FC236}">
                  <a16:creationId xmlns:a16="http://schemas.microsoft.com/office/drawing/2014/main" id="{B1C79FBC-8EAB-B9A1-6858-F22C5AFFF87C}"/>
                </a:ext>
              </a:extLst>
            </p:cNvPr>
            <p:cNvCxnSpPr>
              <a:cxnSpLocks/>
            </p:cNvCxnSpPr>
            <p:nvPr/>
          </p:nvCxnSpPr>
          <p:spPr>
            <a:xfrm>
              <a:off x="1199867" y="3427533"/>
              <a:ext cx="5788586" cy="0"/>
            </a:xfrm>
            <a:prstGeom prst="straightConnector1">
              <a:avLst/>
            </a:prstGeom>
            <a:ln w="4445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8317EF56-6093-DB50-91A8-8612E3E0C3E1}"/>
                </a:ext>
              </a:extLst>
            </p:cNvPr>
            <p:cNvSpPr txBox="1"/>
            <p:nvPr/>
          </p:nvSpPr>
          <p:spPr>
            <a:xfrm>
              <a:off x="6988454" y="3579368"/>
              <a:ext cx="1815324" cy="255745"/>
            </a:xfrm>
            <a:prstGeom prst="rect">
              <a:avLst/>
            </a:prstGeom>
            <a:noFill/>
          </p:spPr>
          <p:txBody>
            <a:bodyPr wrap="square" rtlCol="0">
              <a:spAutoFit/>
            </a:bodyPr>
            <a:lstStyle/>
            <a:p>
              <a:r>
                <a:rPr lang="en-US" sz="1600" dirty="0">
                  <a:solidFill>
                    <a:srgbClr val="C00000"/>
                  </a:solidFill>
                </a:rPr>
                <a:t>Event: Death</a:t>
              </a:r>
            </a:p>
          </p:txBody>
        </p:sp>
        <p:grpSp>
          <p:nvGrpSpPr>
            <p:cNvPr id="51" name="Group 50">
              <a:extLst>
                <a:ext uri="{FF2B5EF4-FFF2-40B4-BE49-F238E27FC236}">
                  <a16:creationId xmlns:a16="http://schemas.microsoft.com/office/drawing/2014/main" id="{833F38A2-E2ED-C038-B1D2-BF28C2CC7D8C}"/>
                </a:ext>
              </a:extLst>
            </p:cNvPr>
            <p:cNvGrpSpPr/>
            <p:nvPr/>
          </p:nvGrpSpPr>
          <p:grpSpPr>
            <a:xfrm>
              <a:off x="3870974" y="3080422"/>
              <a:ext cx="3117476" cy="216821"/>
              <a:chOff x="5860755" y="3557239"/>
              <a:chExt cx="2526164" cy="335968"/>
            </a:xfrm>
          </p:grpSpPr>
          <p:sp>
            <p:nvSpPr>
              <p:cNvPr id="80" name="Rectangle 79">
                <a:extLst>
                  <a:ext uri="{FF2B5EF4-FFF2-40B4-BE49-F238E27FC236}">
                    <a16:creationId xmlns:a16="http://schemas.microsoft.com/office/drawing/2014/main" id="{1E8AA7C0-70EE-70E9-9C6B-FCED41235138}"/>
                  </a:ext>
                </a:extLst>
              </p:cNvPr>
              <p:cNvSpPr/>
              <p:nvPr/>
            </p:nvSpPr>
            <p:spPr>
              <a:xfrm>
                <a:off x="5860755" y="3557239"/>
                <a:ext cx="2526164" cy="335968"/>
              </a:xfrm>
              <a:prstGeom prst="rect">
                <a:avLst/>
              </a:prstGeom>
              <a:solidFill>
                <a:schemeClr val="bg1">
                  <a:lumMod val="6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81" name="Straight Connector 80">
                <a:extLst>
                  <a:ext uri="{FF2B5EF4-FFF2-40B4-BE49-F238E27FC236}">
                    <a16:creationId xmlns:a16="http://schemas.microsoft.com/office/drawing/2014/main" id="{269F4196-989E-C63A-2A6D-F0E27B5F85F3}"/>
                  </a:ext>
                </a:extLst>
              </p:cNvPr>
              <p:cNvCxnSpPr>
                <a:cxnSpLocks/>
              </p:cNvCxnSpPr>
              <p:nvPr/>
            </p:nvCxnSpPr>
            <p:spPr>
              <a:xfrm>
                <a:off x="5860755" y="3557239"/>
                <a:ext cx="0" cy="335968"/>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3F28388B-E80D-6CC5-5260-B7F37018E309}"/>
                </a:ext>
              </a:extLst>
            </p:cNvPr>
            <p:cNvGrpSpPr/>
            <p:nvPr/>
          </p:nvGrpSpPr>
          <p:grpSpPr>
            <a:xfrm>
              <a:off x="2091424" y="3133973"/>
              <a:ext cx="3189532" cy="611240"/>
              <a:chOff x="2039848" y="3133973"/>
              <a:chExt cx="4184005" cy="611240"/>
            </a:xfrm>
          </p:grpSpPr>
          <p:sp>
            <p:nvSpPr>
              <p:cNvPr id="70" name="Oval 69">
                <a:extLst>
                  <a:ext uri="{FF2B5EF4-FFF2-40B4-BE49-F238E27FC236}">
                    <a16:creationId xmlns:a16="http://schemas.microsoft.com/office/drawing/2014/main" id="{19A4EC31-25E9-946A-5697-2AA79D011F47}"/>
                  </a:ext>
                </a:extLst>
              </p:cNvPr>
              <p:cNvSpPr/>
              <p:nvPr/>
            </p:nvSpPr>
            <p:spPr>
              <a:xfrm>
                <a:off x="2039848" y="3649991"/>
                <a:ext cx="132836" cy="9416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1" name="Oval 70">
                <a:extLst>
                  <a:ext uri="{FF2B5EF4-FFF2-40B4-BE49-F238E27FC236}">
                    <a16:creationId xmlns:a16="http://schemas.microsoft.com/office/drawing/2014/main" id="{33B54CEE-AC9A-C4CC-F1F5-214E6C0709D9}"/>
                  </a:ext>
                </a:extLst>
              </p:cNvPr>
              <p:cNvSpPr/>
              <p:nvPr/>
            </p:nvSpPr>
            <p:spPr>
              <a:xfrm>
                <a:off x="3029782" y="3646524"/>
                <a:ext cx="132836" cy="9416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2" name="Oval 71">
                <a:extLst>
                  <a:ext uri="{FF2B5EF4-FFF2-40B4-BE49-F238E27FC236}">
                    <a16:creationId xmlns:a16="http://schemas.microsoft.com/office/drawing/2014/main" id="{ABEF3A5D-F12B-FB11-4EAA-D6BE8E839FB5}"/>
                  </a:ext>
                </a:extLst>
              </p:cNvPr>
              <p:cNvSpPr/>
              <p:nvPr/>
            </p:nvSpPr>
            <p:spPr>
              <a:xfrm>
                <a:off x="3982093" y="3651046"/>
                <a:ext cx="132836" cy="9416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3" name="Oval 72">
                <a:extLst>
                  <a:ext uri="{FF2B5EF4-FFF2-40B4-BE49-F238E27FC236}">
                    <a16:creationId xmlns:a16="http://schemas.microsoft.com/office/drawing/2014/main" id="{7BCFFD46-3DD5-60DD-084E-C494E375D14F}"/>
                  </a:ext>
                </a:extLst>
              </p:cNvPr>
              <p:cNvSpPr/>
              <p:nvPr/>
            </p:nvSpPr>
            <p:spPr>
              <a:xfrm>
                <a:off x="2039848" y="3380875"/>
                <a:ext cx="132836" cy="9416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4" name="Oval 73">
                <a:extLst>
                  <a:ext uri="{FF2B5EF4-FFF2-40B4-BE49-F238E27FC236}">
                    <a16:creationId xmlns:a16="http://schemas.microsoft.com/office/drawing/2014/main" id="{2AE4220C-9091-D159-67F9-BDF9B628EFAA}"/>
                  </a:ext>
                </a:extLst>
              </p:cNvPr>
              <p:cNvSpPr/>
              <p:nvPr/>
            </p:nvSpPr>
            <p:spPr>
              <a:xfrm>
                <a:off x="3010580" y="3380875"/>
                <a:ext cx="132836" cy="9416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5" name="Oval 74">
                <a:extLst>
                  <a:ext uri="{FF2B5EF4-FFF2-40B4-BE49-F238E27FC236}">
                    <a16:creationId xmlns:a16="http://schemas.microsoft.com/office/drawing/2014/main" id="{67412550-FBB0-2475-220A-92E05AEF6DE8}"/>
                  </a:ext>
                </a:extLst>
              </p:cNvPr>
              <p:cNvSpPr/>
              <p:nvPr/>
            </p:nvSpPr>
            <p:spPr>
              <a:xfrm>
                <a:off x="4048510" y="3380875"/>
                <a:ext cx="132836" cy="9416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6" name="Oval 75">
                <a:extLst>
                  <a:ext uri="{FF2B5EF4-FFF2-40B4-BE49-F238E27FC236}">
                    <a16:creationId xmlns:a16="http://schemas.microsoft.com/office/drawing/2014/main" id="{DFABD182-95F6-1DDC-8454-15287D233A23}"/>
                  </a:ext>
                </a:extLst>
              </p:cNvPr>
              <p:cNvSpPr/>
              <p:nvPr/>
            </p:nvSpPr>
            <p:spPr>
              <a:xfrm>
                <a:off x="5120285" y="3380875"/>
                <a:ext cx="132836" cy="9416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7" name="Oval 76">
                <a:extLst>
                  <a:ext uri="{FF2B5EF4-FFF2-40B4-BE49-F238E27FC236}">
                    <a16:creationId xmlns:a16="http://schemas.microsoft.com/office/drawing/2014/main" id="{4DC9CA88-0099-3CFF-7520-9A34BEC27038}"/>
                  </a:ext>
                </a:extLst>
              </p:cNvPr>
              <p:cNvSpPr/>
              <p:nvPr/>
            </p:nvSpPr>
            <p:spPr>
              <a:xfrm>
                <a:off x="6091017" y="3380875"/>
                <a:ext cx="132836" cy="9416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8" name="Oval 77">
                <a:extLst>
                  <a:ext uri="{FF2B5EF4-FFF2-40B4-BE49-F238E27FC236}">
                    <a16:creationId xmlns:a16="http://schemas.microsoft.com/office/drawing/2014/main" id="{D6A1E2DC-9E78-F87A-F5EF-A1AE8076036B}"/>
                  </a:ext>
                </a:extLst>
              </p:cNvPr>
              <p:cNvSpPr/>
              <p:nvPr/>
            </p:nvSpPr>
            <p:spPr>
              <a:xfrm>
                <a:off x="2050323" y="3133973"/>
                <a:ext cx="132836" cy="9416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9" name="Oval 78">
                <a:extLst>
                  <a:ext uri="{FF2B5EF4-FFF2-40B4-BE49-F238E27FC236}">
                    <a16:creationId xmlns:a16="http://schemas.microsoft.com/office/drawing/2014/main" id="{2999831E-9444-65DD-DFB0-856EB523B101}"/>
                  </a:ext>
                </a:extLst>
              </p:cNvPr>
              <p:cNvSpPr/>
              <p:nvPr/>
            </p:nvSpPr>
            <p:spPr>
              <a:xfrm>
                <a:off x="3073771" y="3133973"/>
                <a:ext cx="132836" cy="9416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sp>
          <p:nvSpPr>
            <p:cNvPr id="53" name="Oval 52">
              <a:extLst>
                <a:ext uri="{FF2B5EF4-FFF2-40B4-BE49-F238E27FC236}">
                  <a16:creationId xmlns:a16="http://schemas.microsoft.com/office/drawing/2014/main" id="{BEDC9A22-5733-A0D3-2866-2EBD7D7007E4}"/>
                </a:ext>
              </a:extLst>
            </p:cNvPr>
            <p:cNvSpPr/>
            <p:nvPr/>
          </p:nvSpPr>
          <p:spPr>
            <a:xfrm>
              <a:off x="4623711" y="3651046"/>
              <a:ext cx="132836" cy="9416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4" name="TextBox 53">
              <a:extLst>
                <a:ext uri="{FF2B5EF4-FFF2-40B4-BE49-F238E27FC236}">
                  <a16:creationId xmlns:a16="http://schemas.microsoft.com/office/drawing/2014/main" id="{EB4CFD88-C17E-38C7-7AF4-DF52D06D78A6}"/>
                </a:ext>
              </a:extLst>
            </p:cNvPr>
            <p:cNvSpPr txBox="1"/>
            <p:nvPr/>
          </p:nvSpPr>
          <p:spPr>
            <a:xfrm>
              <a:off x="168871" y="3067487"/>
              <a:ext cx="934612" cy="255745"/>
            </a:xfrm>
            <a:prstGeom prst="rect">
              <a:avLst/>
            </a:prstGeom>
            <a:noFill/>
          </p:spPr>
          <p:txBody>
            <a:bodyPr wrap="square" rtlCol="0">
              <a:spAutoFit/>
            </a:bodyPr>
            <a:lstStyle/>
            <a:p>
              <a:r>
                <a:rPr lang="en-US" sz="1600" dirty="0"/>
                <a:t>Patient #1</a:t>
              </a:r>
            </a:p>
          </p:txBody>
        </p:sp>
        <p:sp>
          <p:nvSpPr>
            <p:cNvPr id="55" name="TextBox 54">
              <a:extLst>
                <a:ext uri="{FF2B5EF4-FFF2-40B4-BE49-F238E27FC236}">
                  <a16:creationId xmlns:a16="http://schemas.microsoft.com/office/drawing/2014/main" id="{9FCAF880-68AC-E09B-251A-13C38E8526A2}"/>
                </a:ext>
              </a:extLst>
            </p:cNvPr>
            <p:cNvSpPr txBox="1"/>
            <p:nvPr/>
          </p:nvSpPr>
          <p:spPr>
            <a:xfrm>
              <a:off x="168871" y="3321564"/>
              <a:ext cx="934612" cy="255745"/>
            </a:xfrm>
            <a:prstGeom prst="rect">
              <a:avLst/>
            </a:prstGeom>
            <a:noFill/>
          </p:spPr>
          <p:txBody>
            <a:bodyPr wrap="square" rtlCol="0">
              <a:spAutoFit/>
            </a:bodyPr>
            <a:lstStyle/>
            <a:p>
              <a:r>
                <a:rPr lang="en-US" sz="1600" dirty="0"/>
                <a:t>Patient #2</a:t>
              </a:r>
            </a:p>
          </p:txBody>
        </p:sp>
        <p:sp>
          <p:nvSpPr>
            <p:cNvPr id="56" name="TextBox 55">
              <a:extLst>
                <a:ext uri="{FF2B5EF4-FFF2-40B4-BE49-F238E27FC236}">
                  <a16:creationId xmlns:a16="http://schemas.microsoft.com/office/drawing/2014/main" id="{CC116AC6-0780-7D1A-E6C4-E7123F9AE153}"/>
                </a:ext>
              </a:extLst>
            </p:cNvPr>
            <p:cNvSpPr txBox="1"/>
            <p:nvPr/>
          </p:nvSpPr>
          <p:spPr>
            <a:xfrm>
              <a:off x="168871" y="3575639"/>
              <a:ext cx="934612" cy="255745"/>
            </a:xfrm>
            <a:prstGeom prst="rect">
              <a:avLst/>
            </a:prstGeom>
            <a:noFill/>
          </p:spPr>
          <p:txBody>
            <a:bodyPr wrap="square" rtlCol="0">
              <a:spAutoFit/>
            </a:bodyPr>
            <a:lstStyle/>
            <a:p>
              <a:r>
                <a:rPr lang="en-US" sz="1600" dirty="0"/>
                <a:t>Patient #3</a:t>
              </a:r>
            </a:p>
          </p:txBody>
        </p:sp>
        <p:grpSp>
          <p:nvGrpSpPr>
            <p:cNvPr id="57" name="Group 56">
              <a:extLst>
                <a:ext uri="{FF2B5EF4-FFF2-40B4-BE49-F238E27FC236}">
                  <a16:creationId xmlns:a16="http://schemas.microsoft.com/office/drawing/2014/main" id="{1276570D-7A46-7677-9C8B-98FC51B6D4C6}"/>
                </a:ext>
              </a:extLst>
            </p:cNvPr>
            <p:cNvGrpSpPr/>
            <p:nvPr/>
          </p:nvGrpSpPr>
          <p:grpSpPr>
            <a:xfrm>
              <a:off x="6637382" y="3328398"/>
              <a:ext cx="351067" cy="216821"/>
              <a:chOff x="5860755" y="3557239"/>
              <a:chExt cx="2526164" cy="335968"/>
            </a:xfrm>
          </p:grpSpPr>
          <p:sp>
            <p:nvSpPr>
              <p:cNvPr id="68" name="Rectangle 67">
                <a:extLst>
                  <a:ext uri="{FF2B5EF4-FFF2-40B4-BE49-F238E27FC236}">
                    <a16:creationId xmlns:a16="http://schemas.microsoft.com/office/drawing/2014/main" id="{2BB01A9E-DC8B-2094-982A-A2057302B859}"/>
                  </a:ext>
                </a:extLst>
              </p:cNvPr>
              <p:cNvSpPr/>
              <p:nvPr/>
            </p:nvSpPr>
            <p:spPr>
              <a:xfrm>
                <a:off x="5860755" y="3557239"/>
                <a:ext cx="2526164" cy="335968"/>
              </a:xfrm>
              <a:prstGeom prst="rect">
                <a:avLst/>
              </a:prstGeom>
              <a:solidFill>
                <a:schemeClr val="bg1">
                  <a:lumMod val="6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69" name="Straight Connector 68">
                <a:extLst>
                  <a:ext uri="{FF2B5EF4-FFF2-40B4-BE49-F238E27FC236}">
                    <a16:creationId xmlns:a16="http://schemas.microsoft.com/office/drawing/2014/main" id="{3BEE4CFD-5037-09D0-E904-240EF3E7CDD4}"/>
                  </a:ext>
                </a:extLst>
              </p:cNvPr>
              <p:cNvCxnSpPr>
                <a:cxnSpLocks/>
              </p:cNvCxnSpPr>
              <p:nvPr/>
            </p:nvCxnSpPr>
            <p:spPr>
              <a:xfrm>
                <a:off x="5860755" y="3557239"/>
                <a:ext cx="0" cy="335968"/>
              </a:xfrm>
              <a:prstGeom prst="line">
                <a:avLst/>
              </a:prstGeom>
              <a:ln w="63500">
                <a:solidFill>
                  <a:srgbClr val="336699"/>
                </a:solidFill>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DF8300F4-E642-1CF1-2FED-5509FDCE5332}"/>
                </a:ext>
              </a:extLst>
            </p:cNvPr>
            <p:cNvGrpSpPr/>
            <p:nvPr/>
          </p:nvGrpSpPr>
          <p:grpSpPr>
            <a:xfrm>
              <a:off x="4688699" y="3587287"/>
              <a:ext cx="2299755" cy="216821"/>
              <a:chOff x="5860755" y="3557239"/>
              <a:chExt cx="2526164" cy="335968"/>
            </a:xfrm>
          </p:grpSpPr>
          <p:sp>
            <p:nvSpPr>
              <p:cNvPr id="66" name="Rectangle 65">
                <a:extLst>
                  <a:ext uri="{FF2B5EF4-FFF2-40B4-BE49-F238E27FC236}">
                    <a16:creationId xmlns:a16="http://schemas.microsoft.com/office/drawing/2014/main" id="{BCC18016-4B34-93CB-D7E7-2C11851F08B1}"/>
                  </a:ext>
                </a:extLst>
              </p:cNvPr>
              <p:cNvSpPr/>
              <p:nvPr/>
            </p:nvSpPr>
            <p:spPr>
              <a:xfrm>
                <a:off x="5860755" y="3557239"/>
                <a:ext cx="2526164" cy="335968"/>
              </a:xfrm>
              <a:prstGeom prst="rect">
                <a:avLst/>
              </a:prstGeom>
              <a:solidFill>
                <a:schemeClr val="bg1">
                  <a:lumMod val="6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67" name="Straight Connector 66">
                <a:extLst>
                  <a:ext uri="{FF2B5EF4-FFF2-40B4-BE49-F238E27FC236}">
                    <a16:creationId xmlns:a16="http://schemas.microsoft.com/office/drawing/2014/main" id="{35680010-8BBD-696F-B6F1-20F31CE7A182}"/>
                  </a:ext>
                </a:extLst>
              </p:cNvPr>
              <p:cNvCxnSpPr>
                <a:cxnSpLocks/>
              </p:cNvCxnSpPr>
              <p:nvPr/>
            </p:nvCxnSpPr>
            <p:spPr>
              <a:xfrm>
                <a:off x="5860755" y="3557239"/>
                <a:ext cx="0" cy="335968"/>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59" name="TextBox 58">
              <a:extLst>
                <a:ext uri="{FF2B5EF4-FFF2-40B4-BE49-F238E27FC236}">
                  <a16:creationId xmlns:a16="http://schemas.microsoft.com/office/drawing/2014/main" id="{3DFAC77F-46F4-30AA-779F-AEB6912AD9FB}"/>
                </a:ext>
              </a:extLst>
            </p:cNvPr>
            <p:cNvSpPr txBox="1"/>
            <p:nvPr/>
          </p:nvSpPr>
          <p:spPr>
            <a:xfrm>
              <a:off x="1610533" y="2802410"/>
              <a:ext cx="959517" cy="255745"/>
            </a:xfrm>
            <a:prstGeom prst="rect">
              <a:avLst/>
            </a:prstGeom>
            <a:noFill/>
          </p:spPr>
          <p:txBody>
            <a:bodyPr wrap="square" rtlCol="0">
              <a:spAutoFit/>
            </a:bodyPr>
            <a:lstStyle/>
            <a:p>
              <a:pPr algn="ctr"/>
              <a:r>
                <a:rPr lang="en-US" sz="1600"/>
                <a:t>Week 8</a:t>
              </a:r>
            </a:p>
          </p:txBody>
        </p:sp>
        <p:sp>
          <p:nvSpPr>
            <p:cNvPr id="60" name="TextBox 59">
              <a:extLst>
                <a:ext uri="{FF2B5EF4-FFF2-40B4-BE49-F238E27FC236}">
                  <a16:creationId xmlns:a16="http://schemas.microsoft.com/office/drawing/2014/main" id="{033EE600-491E-8DF5-AE2F-79BE551D6380}"/>
                </a:ext>
              </a:extLst>
            </p:cNvPr>
            <p:cNvSpPr txBox="1"/>
            <p:nvPr/>
          </p:nvSpPr>
          <p:spPr>
            <a:xfrm>
              <a:off x="6980671" y="3054345"/>
              <a:ext cx="1919489" cy="255745"/>
            </a:xfrm>
            <a:prstGeom prst="rect">
              <a:avLst/>
            </a:prstGeom>
            <a:noFill/>
          </p:spPr>
          <p:txBody>
            <a:bodyPr wrap="square" rtlCol="0">
              <a:spAutoFit/>
            </a:bodyPr>
            <a:lstStyle/>
            <a:p>
              <a:r>
                <a:rPr lang="en-US" sz="1600" dirty="0">
                  <a:solidFill>
                    <a:srgbClr val="C00000"/>
                  </a:solidFill>
                </a:rPr>
                <a:t>Event: Lesion progression</a:t>
              </a:r>
            </a:p>
          </p:txBody>
        </p:sp>
        <p:sp>
          <p:nvSpPr>
            <p:cNvPr id="61" name="TextBox 60">
              <a:extLst>
                <a:ext uri="{FF2B5EF4-FFF2-40B4-BE49-F238E27FC236}">
                  <a16:creationId xmlns:a16="http://schemas.microsoft.com/office/drawing/2014/main" id="{2F971DEC-B117-7D62-FF23-50C68A90AD95}"/>
                </a:ext>
              </a:extLst>
            </p:cNvPr>
            <p:cNvSpPr txBox="1"/>
            <p:nvPr/>
          </p:nvSpPr>
          <p:spPr>
            <a:xfrm rot="16200000">
              <a:off x="394931" y="3801503"/>
              <a:ext cx="380458" cy="278994"/>
            </a:xfrm>
            <a:prstGeom prst="rect">
              <a:avLst/>
            </a:prstGeom>
            <a:noFill/>
          </p:spPr>
          <p:txBody>
            <a:bodyPr wrap="square" rtlCol="0">
              <a:spAutoFit/>
            </a:bodyPr>
            <a:lstStyle/>
            <a:p>
              <a:pPr algn="ctr"/>
              <a:r>
                <a:rPr lang="en-US" dirty="0"/>
                <a:t>…</a:t>
              </a:r>
            </a:p>
          </p:txBody>
        </p:sp>
        <p:sp>
          <p:nvSpPr>
            <p:cNvPr id="62" name="TextBox 61">
              <a:extLst>
                <a:ext uri="{FF2B5EF4-FFF2-40B4-BE49-F238E27FC236}">
                  <a16:creationId xmlns:a16="http://schemas.microsoft.com/office/drawing/2014/main" id="{AA358558-6844-C431-D0C7-D709D5273BFF}"/>
                </a:ext>
              </a:extLst>
            </p:cNvPr>
            <p:cNvSpPr txBox="1"/>
            <p:nvPr/>
          </p:nvSpPr>
          <p:spPr>
            <a:xfrm>
              <a:off x="2452932" y="2802410"/>
              <a:ext cx="959517" cy="255745"/>
            </a:xfrm>
            <a:prstGeom prst="rect">
              <a:avLst/>
            </a:prstGeom>
            <a:noFill/>
          </p:spPr>
          <p:txBody>
            <a:bodyPr wrap="square" rtlCol="0">
              <a:spAutoFit/>
            </a:bodyPr>
            <a:lstStyle/>
            <a:p>
              <a:pPr algn="ctr"/>
              <a:r>
                <a:rPr lang="en-US" sz="1600"/>
                <a:t>Week 16</a:t>
              </a:r>
            </a:p>
          </p:txBody>
        </p:sp>
        <p:sp>
          <p:nvSpPr>
            <p:cNvPr id="63" name="TextBox 62">
              <a:extLst>
                <a:ext uri="{FF2B5EF4-FFF2-40B4-BE49-F238E27FC236}">
                  <a16:creationId xmlns:a16="http://schemas.microsoft.com/office/drawing/2014/main" id="{83087282-A019-4DD5-AF18-EBB6EB607E8A}"/>
                </a:ext>
              </a:extLst>
            </p:cNvPr>
            <p:cNvSpPr txBox="1"/>
            <p:nvPr/>
          </p:nvSpPr>
          <p:spPr>
            <a:xfrm>
              <a:off x="3610816" y="2644819"/>
              <a:ext cx="548285" cy="255745"/>
            </a:xfrm>
            <a:prstGeom prst="rect">
              <a:avLst/>
            </a:prstGeom>
            <a:noFill/>
          </p:spPr>
          <p:txBody>
            <a:bodyPr wrap="square" rtlCol="0">
              <a:spAutoFit/>
            </a:bodyPr>
            <a:lstStyle/>
            <a:p>
              <a:r>
                <a:rPr lang="en-US" sz="1600" dirty="0">
                  <a:solidFill>
                    <a:srgbClr val="C00000"/>
                  </a:solidFill>
                </a:rPr>
                <a:t>Event</a:t>
              </a:r>
            </a:p>
          </p:txBody>
        </p:sp>
        <p:cxnSp>
          <p:nvCxnSpPr>
            <p:cNvPr id="64" name="Straight Arrow Connector 63">
              <a:extLst>
                <a:ext uri="{FF2B5EF4-FFF2-40B4-BE49-F238E27FC236}">
                  <a16:creationId xmlns:a16="http://schemas.microsoft.com/office/drawing/2014/main" id="{51266F73-7CAD-7BAA-55EF-ECC4BE0C1DD4}"/>
                </a:ext>
              </a:extLst>
            </p:cNvPr>
            <p:cNvCxnSpPr>
              <a:cxnSpLocks/>
            </p:cNvCxnSpPr>
            <p:nvPr/>
          </p:nvCxnSpPr>
          <p:spPr>
            <a:xfrm>
              <a:off x="3862414" y="2903135"/>
              <a:ext cx="0" cy="132098"/>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5ED3E02D-3417-39C2-7671-7538EA22D333}"/>
                </a:ext>
              </a:extLst>
            </p:cNvPr>
            <p:cNvSpPr txBox="1"/>
            <p:nvPr/>
          </p:nvSpPr>
          <p:spPr>
            <a:xfrm>
              <a:off x="6980672" y="3329307"/>
              <a:ext cx="1919489" cy="255745"/>
            </a:xfrm>
            <a:prstGeom prst="rect">
              <a:avLst/>
            </a:prstGeom>
            <a:noFill/>
          </p:spPr>
          <p:txBody>
            <a:bodyPr wrap="square" rtlCol="0">
              <a:spAutoFit/>
            </a:bodyPr>
            <a:lstStyle/>
            <a:p>
              <a:r>
                <a:rPr lang="en-US" sz="1600" dirty="0">
                  <a:solidFill>
                    <a:srgbClr val="336699"/>
                  </a:solidFill>
                </a:rPr>
                <a:t>No event: Lost to Follow-up</a:t>
              </a:r>
            </a:p>
          </p:txBody>
        </p:sp>
      </p:grpSp>
      <p:sp>
        <p:nvSpPr>
          <p:cNvPr id="82" name="TextBox 81">
            <a:extLst>
              <a:ext uri="{FF2B5EF4-FFF2-40B4-BE49-F238E27FC236}">
                <a16:creationId xmlns:a16="http://schemas.microsoft.com/office/drawing/2014/main" id="{77DFC20D-4A1A-B4A2-A619-8DA7F8C8C4AE}"/>
              </a:ext>
            </a:extLst>
          </p:cNvPr>
          <p:cNvSpPr txBox="1"/>
          <p:nvPr/>
        </p:nvSpPr>
        <p:spPr>
          <a:xfrm>
            <a:off x="2373571" y="4590681"/>
            <a:ext cx="6961565" cy="369332"/>
          </a:xfrm>
          <a:prstGeom prst="rect">
            <a:avLst/>
          </a:prstGeom>
          <a:noFill/>
        </p:spPr>
        <p:txBody>
          <a:bodyPr wrap="square">
            <a:spAutoFit/>
          </a:bodyPr>
          <a:lstStyle/>
          <a:p>
            <a:r>
              <a:rPr lang="en-US" sz="1800" i="1" dirty="0">
                <a:solidFill>
                  <a:schemeClr val="accent4"/>
                </a:solidFill>
                <a:effectLst/>
                <a:latin typeface="Calibri" panose="020F0502020204030204" pitchFamily="34" charset="0"/>
                <a:ea typeface="Calibri" panose="020F0502020204030204" pitchFamily="34" charset="0"/>
                <a:cs typeface="Arial" panose="020B0604020202020204" pitchFamily="34" charset="0"/>
              </a:rPr>
              <a:t>~55%</a:t>
            </a:r>
            <a:r>
              <a:rPr lang="en-US" sz="1800" i="1" dirty="0">
                <a:solidFill>
                  <a:srgbClr val="000000"/>
                </a:solidFill>
                <a:effectLst/>
                <a:latin typeface="Calibri" panose="020F0502020204030204" pitchFamily="34" charset="0"/>
                <a:ea typeface="Calibri" panose="020F0502020204030204" pitchFamily="34" charset="0"/>
                <a:cs typeface="Arial" panose="020B0604020202020204" pitchFamily="34" charset="0"/>
              </a:rPr>
              <a:t> of </a:t>
            </a:r>
            <a:r>
              <a:rPr lang="en-US" i="1" dirty="0">
                <a:solidFill>
                  <a:srgbClr val="000000"/>
                </a:solidFill>
                <a:latin typeface="Calibri" panose="020F0502020204030204" pitchFamily="34" charset="0"/>
                <a:ea typeface="Calibri" panose="020F0502020204030204" pitchFamily="34" charset="0"/>
                <a:cs typeface="Arial" panose="020B0604020202020204" pitchFamily="34" charset="0"/>
              </a:rPr>
              <a:t>the patient data</a:t>
            </a:r>
            <a:r>
              <a:rPr lang="en-US" sz="1800" i="1" dirty="0">
                <a:solidFill>
                  <a:srgbClr val="000000"/>
                </a:solidFill>
                <a:effectLst/>
                <a:latin typeface="Calibri" panose="020F0502020204030204" pitchFamily="34" charset="0"/>
                <a:ea typeface="Calibri" panose="020F0502020204030204" pitchFamily="34" charset="0"/>
                <a:cs typeface="Arial" panose="020B0604020202020204" pitchFamily="34" charset="0"/>
              </a:rPr>
              <a:t> censored due to lost-to-follow-up or no event</a:t>
            </a:r>
            <a:endParaRPr lang="en-US" i="1" dirty="0"/>
          </a:p>
        </p:txBody>
      </p:sp>
      <p:sp>
        <p:nvSpPr>
          <p:cNvPr id="3" name="TextBox 2">
            <a:extLst>
              <a:ext uri="{FF2B5EF4-FFF2-40B4-BE49-F238E27FC236}">
                <a16:creationId xmlns:a16="http://schemas.microsoft.com/office/drawing/2014/main" id="{777FE3C0-329F-0AE6-57AE-40B87D12A489}"/>
              </a:ext>
            </a:extLst>
          </p:cNvPr>
          <p:cNvSpPr txBox="1"/>
          <p:nvPr/>
        </p:nvSpPr>
        <p:spPr>
          <a:xfrm>
            <a:off x="293864" y="5167229"/>
            <a:ext cx="11621312" cy="1015663"/>
          </a:xfrm>
          <a:prstGeom prst="rect">
            <a:avLst/>
          </a:prstGeom>
          <a:noFill/>
          <a:ln>
            <a:noFill/>
          </a:ln>
        </p:spPr>
        <p:txBody>
          <a:bodyPr wrap="square" rtlCol="0">
            <a:spAutoFit/>
          </a:bodyPr>
          <a:lstStyle/>
          <a:p>
            <a:r>
              <a:rPr lang="en-US" sz="2000" b="1" dirty="0"/>
              <a:t>Data Sample Size</a:t>
            </a:r>
          </a:p>
          <a:p>
            <a:pPr marL="285750" indent="-285750">
              <a:buFont typeface="Arial" panose="020B0604020202020204" pitchFamily="34" charset="0"/>
              <a:buChar char="•"/>
            </a:pPr>
            <a:r>
              <a:rPr lang="en-US" sz="2000" i="1" dirty="0"/>
              <a:t>Training cohort: </a:t>
            </a:r>
            <a:r>
              <a:rPr lang="en-US" sz="2000" dirty="0"/>
              <a:t>112 patients (patients in rows)</a:t>
            </a:r>
          </a:p>
          <a:p>
            <a:pPr marL="285750" indent="-285750">
              <a:buFont typeface="Arial" panose="020B0604020202020204" pitchFamily="34" charset="0"/>
              <a:buChar char="•"/>
            </a:pPr>
            <a:r>
              <a:rPr lang="en-US" sz="2000" i="1" dirty="0"/>
              <a:t>Test cohort: </a:t>
            </a:r>
            <a:r>
              <a:rPr lang="en-US" sz="2000" dirty="0"/>
              <a:t>101 patients </a:t>
            </a:r>
          </a:p>
        </p:txBody>
      </p:sp>
    </p:spTree>
    <p:extLst>
      <p:ext uri="{BB962C8B-B14F-4D97-AF65-F5344CB8AC3E}">
        <p14:creationId xmlns:p14="http://schemas.microsoft.com/office/powerpoint/2010/main" val="3801118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7E4A-F42E-6E96-11FC-4CB07BE1A0FF}"/>
              </a:ext>
            </a:extLst>
          </p:cNvPr>
          <p:cNvSpPr>
            <a:spLocks noGrp="1"/>
          </p:cNvSpPr>
          <p:nvPr>
            <p:ph type="title"/>
          </p:nvPr>
        </p:nvSpPr>
        <p:spPr/>
        <p:txBody>
          <a:bodyPr/>
          <a:lstStyle/>
          <a:p>
            <a:r>
              <a:rPr lang="en-US" dirty="0"/>
              <a:t>Modeling</a:t>
            </a:r>
          </a:p>
        </p:txBody>
      </p:sp>
      <p:sp>
        <p:nvSpPr>
          <p:cNvPr id="3" name="Slide Number Placeholder 2">
            <a:extLst>
              <a:ext uri="{FF2B5EF4-FFF2-40B4-BE49-F238E27FC236}">
                <a16:creationId xmlns:a16="http://schemas.microsoft.com/office/drawing/2014/main" id="{3A0D64D5-F87A-8E98-C72B-9F38449E4BAE}"/>
              </a:ext>
            </a:extLst>
          </p:cNvPr>
          <p:cNvSpPr>
            <a:spLocks noGrp="1"/>
          </p:cNvSpPr>
          <p:nvPr>
            <p:ph type="sldNum" sz="quarter" idx="4"/>
          </p:nvPr>
        </p:nvSpPr>
        <p:spPr/>
        <p:txBody>
          <a:bodyPr/>
          <a:lstStyle/>
          <a:p>
            <a:fld id="{7D871F5F-C8AF-484B-B19A-A0CBCE8C7764}" type="slidenum">
              <a:rPr lang="en-US" smtClean="0"/>
              <a:t>5</a:t>
            </a:fld>
            <a:endParaRPr lang="en-US"/>
          </a:p>
        </p:txBody>
      </p:sp>
      <p:sp>
        <p:nvSpPr>
          <p:cNvPr id="4" name="TextBox 3">
            <a:extLst>
              <a:ext uri="{FF2B5EF4-FFF2-40B4-BE49-F238E27FC236}">
                <a16:creationId xmlns:a16="http://schemas.microsoft.com/office/drawing/2014/main" id="{CC2AE499-C276-0C47-F42F-5ADFB0CB3485}"/>
              </a:ext>
            </a:extLst>
          </p:cNvPr>
          <p:cNvSpPr txBox="1"/>
          <p:nvPr/>
        </p:nvSpPr>
        <p:spPr>
          <a:xfrm>
            <a:off x="306042" y="1153140"/>
            <a:ext cx="11835396" cy="707886"/>
          </a:xfrm>
          <a:prstGeom prst="rect">
            <a:avLst/>
          </a:prstGeom>
          <a:noFill/>
          <a:ln>
            <a:noFill/>
          </a:ln>
        </p:spPr>
        <p:txBody>
          <a:bodyPr wrap="square" rtlCol="0">
            <a:spAutoFit/>
          </a:bodyPr>
          <a:lstStyle/>
          <a:p>
            <a:pPr marL="342900" indent="-342900">
              <a:buFont typeface="Arial" panose="020B0604020202020204" pitchFamily="34" charset="0"/>
              <a:buChar char="•"/>
            </a:pPr>
            <a:r>
              <a:rPr lang="en-US" sz="2000" dirty="0"/>
              <a:t>Developed</a:t>
            </a:r>
            <a:r>
              <a:rPr lang="en-US" sz="2000" b="1" dirty="0"/>
              <a:t> </a:t>
            </a:r>
            <a:r>
              <a:rPr lang="en-US" sz="2000" dirty="0"/>
              <a:t> an interpretable model for early assessment of PFS in patients with metastatic breast cancer</a:t>
            </a:r>
          </a:p>
          <a:p>
            <a:pPr marL="800100" lvl="1" indent="-342900">
              <a:buFont typeface="Arial" panose="020B0604020202020204" pitchFamily="34" charset="0"/>
              <a:buChar char="•"/>
            </a:pPr>
            <a:r>
              <a:rPr lang="en-US" sz="2000" dirty="0"/>
              <a:t>Based on clinical features, chest CT radiomic features.</a:t>
            </a:r>
          </a:p>
        </p:txBody>
      </p:sp>
      <p:sp>
        <p:nvSpPr>
          <p:cNvPr id="5" name="Rectangle 4">
            <a:extLst>
              <a:ext uri="{FF2B5EF4-FFF2-40B4-BE49-F238E27FC236}">
                <a16:creationId xmlns:a16="http://schemas.microsoft.com/office/drawing/2014/main" id="{07C0564D-7975-4E38-C626-9D1AB373B2CC}"/>
              </a:ext>
            </a:extLst>
          </p:cNvPr>
          <p:cNvSpPr/>
          <p:nvPr/>
        </p:nvSpPr>
        <p:spPr>
          <a:xfrm>
            <a:off x="9910857" y="3050491"/>
            <a:ext cx="2118049" cy="317241"/>
          </a:xfrm>
          <a:prstGeom prst="rect">
            <a:avLst/>
          </a:prstGeom>
          <a:solidFill>
            <a:srgbClr val="7DAE0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B+D</a:t>
            </a:r>
          </a:p>
        </p:txBody>
      </p:sp>
      <p:sp>
        <p:nvSpPr>
          <p:cNvPr id="10" name="Rectangle 9">
            <a:extLst>
              <a:ext uri="{FF2B5EF4-FFF2-40B4-BE49-F238E27FC236}">
                <a16:creationId xmlns:a16="http://schemas.microsoft.com/office/drawing/2014/main" id="{3A21AB9F-AB84-26E5-5762-6E2AB81FC76D}"/>
              </a:ext>
            </a:extLst>
          </p:cNvPr>
          <p:cNvSpPr/>
          <p:nvPr/>
        </p:nvSpPr>
        <p:spPr>
          <a:xfrm>
            <a:off x="9910857" y="2582655"/>
            <a:ext cx="2118049" cy="317241"/>
          </a:xfrm>
          <a:prstGeom prst="rect">
            <a:avLst/>
          </a:prstGeom>
          <a:solidFill>
            <a:srgbClr val="F8766D"/>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B</a:t>
            </a:r>
          </a:p>
        </p:txBody>
      </p:sp>
      <p:sp>
        <p:nvSpPr>
          <p:cNvPr id="6" name="Rectangle 5">
            <a:extLst>
              <a:ext uri="{FF2B5EF4-FFF2-40B4-BE49-F238E27FC236}">
                <a16:creationId xmlns:a16="http://schemas.microsoft.com/office/drawing/2014/main" id="{85A382B2-8AAB-D5CD-6CA4-FEA0601544C5}"/>
              </a:ext>
            </a:extLst>
          </p:cNvPr>
          <p:cNvSpPr/>
          <p:nvPr/>
        </p:nvSpPr>
        <p:spPr>
          <a:xfrm>
            <a:off x="9910857" y="3518327"/>
            <a:ext cx="2118049" cy="317241"/>
          </a:xfrm>
          <a:prstGeom prst="rect">
            <a:avLst/>
          </a:prstGeom>
          <a:solidFill>
            <a:srgbClr val="00BFC4"/>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B+D+C</a:t>
            </a:r>
          </a:p>
        </p:txBody>
      </p:sp>
      <p:sp>
        <p:nvSpPr>
          <p:cNvPr id="13" name="Rectangle 12">
            <a:extLst>
              <a:ext uri="{FF2B5EF4-FFF2-40B4-BE49-F238E27FC236}">
                <a16:creationId xmlns:a16="http://schemas.microsoft.com/office/drawing/2014/main" id="{420C4723-D504-1BC2-3611-33EB49835B78}"/>
              </a:ext>
            </a:extLst>
          </p:cNvPr>
          <p:cNvSpPr/>
          <p:nvPr/>
        </p:nvSpPr>
        <p:spPr>
          <a:xfrm>
            <a:off x="9910856" y="3986163"/>
            <a:ext cx="2118049" cy="317241"/>
          </a:xfrm>
          <a:prstGeom prst="rect">
            <a:avLst/>
          </a:prstGeom>
          <a:solidFill>
            <a:srgbClr val="C77CFF"/>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B+D+C+I</a:t>
            </a:r>
          </a:p>
        </p:txBody>
      </p:sp>
      <p:sp>
        <p:nvSpPr>
          <p:cNvPr id="14" name="TextBox 13">
            <a:extLst>
              <a:ext uri="{FF2B5EF4-FFF2-40B4-BE49-F238E27FC236}">
                <a16:creationId xmlns:a16="http://schemas.microsoft.com/office/drawing/2014/main" id="{288BEA11-E95B-6D14-0D73-B9CAAEC250AD}"/>
              </a:ext>
            </a:extLst>
          </p:cNvPr>
          <p:cNvSpPr txBox="1"/>
          <p:nvPr/>
        </p:nvSpPr>
        <p:spPr>
          <a:xfrm>
            <a:off x="10053802" y="1861026"/>
            <a:ext cx="1832156" cy="646331"/>
          </a:xfrm>
          <a:prstGeom prst="rect">
            <a:avLst/>
          </a:prstGeom>
          <a:noFill/>
        </p:spPr>
        <p:txBody>
          <a:bodyPr wrap="square" rtlCol="0">
            <a:spAutoFit/>
          </a:bodyPr>
          <a:lstStyle/>
          <a:p>
            <a:pPr algn="ctr"/>
            <a:r>
              <a:rPr lang="en-US" dirty="0"/>
              <a:t>Cox Proportional</a:t>
            </a:r>
          </a:p>
          <a:p>
            <a:pPr algn="ctr"/>
            <a:r>
              <a:rPr lang="en-US" dirty="0"/>
              <a:t>Hazards Models</a:t>
            </a:r>
          </a:p>
        </p:txBody>
      </p:sp>
      <p:grpSp>
        <p:nvGrpSpPr>
          <p:cNvPr id="19" name="Group 18">
            <a:extLst>
              <a:ext uri="{FF2B5EF4-FFF2-40B4-BE49-F238E27FC236}">
                <a16:creationId xmlns:a16="http://schemas.microsoft.com/office/drawing/2014/main" id="{CBA268E4-539D-44A2-DE28-00998FE7DB2D}"/>
              </a:ext>
            </a:extLst>
          </p:cNvPr>
          <p:cNvGrpSpPr/>
          <p:nvPr/>
        </p:nvGrpSpPr>
        <p:grpSpPr>
          <a:xfrm>
            <a:off x="6997437" y="2746844"/>
            <a:ext cx="2330451" cy="1380107"/>
            <a:chOff x="6170148" y="2949949"/>
            <a:chExt cx="2330451" cy="1380107"/>
          </a:xfrm>
        </p:grpSpPr>
        <p:sp>
          <p:nvSpPr>
            <p:cNvPr id="15" name="Rectangle 14">
              <a:extLst>
                <a:ext uri="{FF2B5EF4-FFF2-40B4-BE49-F238E27FC236}">
                  <a16:creationId xmlns:a16="http://schemas.microsoft.com/office/drawing/2014/main" id="{AA39CE45-D044-36AC-7A78-5C9F92C6DFE7}"/>
                </a:ext>
              </a:extLst>
            </p:cNvPr>
            <p:cNvSpPr/>
            <p:nvPr/>
          </p:nvSpPr>
          <p:spPr>
            <a:xfrm>
              <a:off x="6170148" y="2949949"/>
              <a:ext cx="2330451" cy="317241"/>
            </a:xfrm>
            <a:prstGeom prst="rect">
              <a:avLst/>
            </a:prstGeom>
            <a:solidFill>
              <a:schemeClr val="bg1">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Baseline Radiomics (B)</a:t>
              </a:r>
            </a:p>
          </p:txBody>
        </p:sp>
        <p:sp>
          <p:nvSpPr>
            <p:cNvPr id="16" name="Rectangle 15">
              <a:extLst>
                <a:ext uri="{FF2B5EF4-FFF2-40B4-BE49-F238E27FC236}">
                  <a16:creationId xmlns:a16="http://schemas.microsoft.com/office/drawing/2014/main" id="{21156D5F-ADA1-9AE6-5C91-7A1C8AA2F6F2}"/>
                </a:ext>
              </a:extLst>
            </p:cNvPr>
            <p:cNvSpPr/>
            <p:nvPr/>
          </p:nvSpPr>
          <p:spPr>
            <a:xfrm>
              <a:off x="6170148" y="3481382"/>
              <a:ext cx="2330451" cy="317241"/>
            </a:xfrm>
            <a:prstGeom prst="rect">
              <a:avLst/>
            </a:prstGeom>
            <a:solidFill>
              <a:schemeClr val="bg1">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*Delta Radiomics (D)</a:t>
              </a:r>
            </a:p>
          </p:txBody>
        </p:sp>
        <p:sp>
          <p:nvSpPr>
            <p:cNvPr id="17" name="Rectangle 16">
              <a:extLst>
                <a:ext uri="{FF2B5EF4-FFF2-40B4-BE49-F238E27FC236}">
                  <a16:creationId xmlns:a16="http://schemas.microsoft.com/office/drawing/2014/main" id="{CE6CFA57-3DD9-D673-CD18-BFDB98C9CD3D}"/>
                </a:ext>
              </a:extLst>
            </p:cNvPr>
            <p:cNvSpPr/>
            <p:nvPr/>
          </p:nvSpPr>
          <p:spPr>
            <a:xfrm>
              <a:off x="6170148" y="4012815"/>
              <a:ext cx="2330451" cy="317241"/>
            </a:xfrm>
            <a:prstGeom prst="rect">
              <a:avLst/>
            </a:prstGeom>
            <a:solidFill>
              <a:schemeClr val="bg1">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Clinical Features (C)</a:t>
              </a:r>
            </a:p>
          </p:txBody>
        </p:sp>
      </p:grpSp>
      <p:sp>
        <p:nvSpPr>
          <p:cNvPr id="20" name="TextBox 19">
            <a:extLst>
              <a:ext uri="{FF2B5EF4-FFF2-40B4-BE49-F238E27FC236}">
                <a16:creationId xmlns:a16="http://schemas.microsoft.com/office/drawing/2014/main" id="{5BDCC3AE-41EF-59F2-35C6-3BEE635FB369}"/>
              </a:ext>
            </a:extLst>
          </p:cNvPr>
          <p:cNvSpPr txBox="1"/>
          <p:nvPr/>
        </p:nvSpPr>
        <p:spPr>
          <a:xfrm>
            <a:off x="7155827" y="2070845"/>
            <a:ext cx="2013669" cy="369332"/>
          </a:xfrm>
          <a:prstGeom prst="rect">
            <a:avLst/>
          </a:prstGeom>
          <a:noFill/>
        </p:spPr>
        <p:txBody>
          <a:bodyPr wrap="square" rtlCol="0">
            <a:spAutoFit/>
          </a:bodyPr>
          <a:lstStyle/>
          <a:p>
            <a:r>
              <a:rPr lang="en-US" dirty="0"/>
              <a:t>Processed Features</a:t>
            </a:r>
          </a:p>
        </p:txBody>
      </p:sp>
      <p:grpSp>
        <p:nvGrpSpPr>
          <p:cNvPr id="21" name="Group 20">
            <a:extLst>
              <a:ext uri="{FF2B5EF4-FFF2-40B4-BE49-F238E27FC236}">
                <a16:creationId xmlns:a16="http://schemas.microsoft.com/office/drawing/2014/main" id="{632C1CE6-9969-303F-F6AA-CF2A2CFE8ED6}"/>
              </a:ext>
            </a:extLst>
          </p:cNvPr>
          <p:cNvGrpSpPr/>
          <p:nvPr/>
        </p:nvGrpSpPr>
        <p:grpSpPr>
          <a:xfrm>
            <a:off x="4089877" y="3026504"/>
            <a:ext cx="2330451" cy="876674"/>
            <a:chOff x="6170148" y="2949949"/>
            <a:chExt cx="2330451" cy="876674"/>
          </a:xfrm>
        </p:grpSpPr>
        <p:sp>
          <p:nvSpPr>
            <p:cNvPr id="22" name="Rectangle 21">
              <a:extLst>
                <a:ext uri="{FF2B5EF4-FFF2-40B4-BE49-F238E27FC236}">
                  <a16:creationId xmlns:a16="http://schemas.microsoft.com/office/drawing/2014/main" id="{3AFC0F3E-7829-8168-1712-1927BD3A5860}"/>
                </a:ext>
              </a:extLst>
            </p:cNvPr>
            <p:cNvSpPr/>
            <p:nvPr/>
          </p:nvSpPr>
          <p:spPr>
            <a:xfrm>
              <a:off x="6170148" y="2949949"/>
              <a:ext cx="2330451" cy="317241"/>
            </a:xfrm>
            <a:prstGeom prst="rect">
              <a:avLst/>
            </a:prstGeom>
            <a:solidFill>
              <a:schemeClr val="bg1">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Radiomics (196)</a:t>
              </a:r>
            </a:p>
          </p:txBody>
        </p:sp>
        <p:sp>
          <p:nvSpPr>
            <p:cNvPr id="24" name="Rectangle 23">
              <a:extLst>
                <a:ext uri="{FF2B5EF4-FFF2-40B4-BE49-F238E27FC236}">
                  <a16:creationId xmlns:a16="http://schemas.microsoft.com/office/drawing/2014/main" id="{9EB6851B-E0D9-C096-CBFC-A21BD57D6B39}"/>
                </a:ext>
              </a:extLst>
            </p:cNvPr>
            <p:cNvSpPr/>
            <p:nvPr/>
          </p:nvSpPr>
          <p:spPr>
            <a:xfrm>
              <a:off x="6170148" y="3509382"/>
              <a:ext cx="2330451" cy="317241"/>
            </a:xfrm>
            <a:prstGeom prst="rect">
              <a:avLst/>
            </a:prstGeom>
            <a:solidFill>
              <a:schemeClr val="bg1">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Clinical (9)</a:t>
              </a:r>
            </a:p>
          </p:txBody>
        </p:sp>
      </p:grpSp>
      <p:sp>
        <p:nvSpPr>
          <p:cNvPr id="25" name="TextBox 24">
            <a:extLst>
              <a:ext uri="{FF2B5EF4-FFF2-40B4-BE49-F238E27FC236}">
                <a16:creationId xmlns:a16="http://schemas.microsoft.com/office/drawing/2014/main" id="{A862BB54-42DC-C8E2-D690-BE36CCF2B93C}"/>
              </a:ext>
            </a:extLst>
          </p:cNvPr>
          <p:cNvSpPr txBox="1"/>
          <p:nvPr/>
        </p:nvSpPr>
        <p:spPr>
          <a:xfrm>
            <a:off x="4377794" y="2070845"/>
            <a:ext cx="1832156" cy="369332"/>
          </a:xfrm>
          <a:prstGeom prst="rect">
            <a:avLst/>
          </a:prstGeom>
          <a:noFill/>
        </p:spPr>
        <p:txBody>
          <a:bodyPr wrap="square" rtlCol="0">
            <a:spAutoFit/>
          </a:bodyPr>
          <a:lstStyle/>
          <a:p>
            <a:r>
              <a:rPr lang="en-US" dirty="0"/>
              <a:t>Original Features</a:t>
            </a:r>
          </a:p>
        </p:txBody>
      </p:sp>
      <p:pic>
        <p:nvPicPr>
          <p:cNvPr id="28" name="Picture 27">
            <a:extLst>
              <a:ext uri="{FF2B5EF4-FFF2-40B4-BE49-F238E27FC236}">
                <a16:creationId xmlns:a16="http://schemas.microsoft.com/office/drawing/2014/main" id="{1073CB07-5748-76C8-29D8-FD0D2C0623BC}"/>
              </a:ext>
            </a:extLst>
          </p:cNvPr>
          <p:cNvPicPr>
            <a:picLocks noChangeAspect="1"/>
          </p:cNvPicPr>
          <p:nvPr/>
        </p:nvPicPr>
        <p:blipFill rotWithShape="1">
          <a:blip r:embed="rId4"/>
          <a:srcRect l="2677" t="24254" r="63669" b="26280"/>
          <a:stretch/>
        </p:blipFill>
        <p:spPr>
          <a:xfrm>
            <a:off x="181404" y="2582655"/>
            <a:ext cx="3556000" cy="1729130"/>
          </a:xfrm>
          <a:prstGeom prst="rect">
            <a:avLst/>
          </a:prstGeom>
        </p:spPr>
      </p:pic>
      <p:sp>
        <p:nvSpPr>
          <p:cNvPr id="29" name="TextBox 28">
            <a:extLst>
              <a:ext uri="{FF2B5EF4-FFF2-40B4-BE49-F238E27FC236}">
                <a16:creationId xmlns:a16="http://schemas.microsoft.com/office/drawing/2014/main" id="{C768B462-11DD-F358-9B37-2C819438CD18}"/>
              </a:ext>
            </a:extLst>
          </p:cNvPr>
          <p:cNvSpPr txBox="1"/>
          <p:nvPr/>
        </p:nvSpPr>
        <p:spPr>
          <a:xfrm>
            <a:off x="131875" y="2070845"/>
            <a:ext cx="3669746" cy="369332"/>
          </a:xfrm>
          <a:prstGeom prst="rect">
            <a:avLst/>
          </a:prstGeom>
          <a:noFill/>
        </p:spPr>
        <p:txBody>
          <a:bodyPr wrap="square" rtlCol="0">
            <a:spAutoFit/>
          </a:bodyPr>
          <a:lstStyle/>
          <a:p>
            <a:r>
              <a:rPr lang="en-US" dirty="0"/>
              <a:t>Chest CT with Radiologist Annotation</a:t>
            </a:r>
          </a:p>
        </p:txBody>
      </p:sp>
      <p:sp>
        <p:nvSpPr>
          <p:cNvPr id="33" name="Arrow: Right 32">
            <a:extLst>
              <a:ext uri="{FF2B5EF4-FFF2-40B4-BE49-F238E27FC236}">
                <a16:creationId xmlns:a16="http://schemas.microsoft.com/office/drawing/2014/main" id="{5D87A9E6-3D27-B76C-3257-646E7B09FD4C}"/>
              </a:ext>
            </a:extLst>
          </p:cNvPr>
          <p:cNvSpPr/>
          <p:nvPr/>
        </p:nvSpPr>
        <p:spPr>
          <a:xfrm>
            <a:off x="3737404" y="3286303"/>
            <a:ext cx="285011" cy="317241"/>
          </a:xfrm>
          <a:prstGeom prst="rightArrow">
            <a:avLst/>
          </a:prstGeom>
          <a:solidFill>
            <a:schemeClr val="bg1">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Arrow: Right 33">
            <a:extLst>
              <a:ext uri="{FF2B5EF4-FFF2-40B4-BE49-F238E27FC236}">
                <a16:creationId xmlns:a16="http://schemas.microsoft.com/office/drawing/2014/main" id="{B259E60B-265A-537F-D8BF-1CAC9D4E837E}"/>
              </a:ext>
            </a:extLst>
          </p:cNvPr>
          <p:cNvSpPr/>
          <p:nvPr/>
        </p:nvSpPr>
        <p:spPr>
          <a:xfrm>
            <a:off x="6563447" y="3286303"/>
            <a:ext cx="285011" cy="317241"/>
          </a:xfrm>
          <a:prstGeom prst="rightArrow">
            <a:avLst/>
          </a:prstGeom>
          <a:solidFill>
            <a:schemeClr val="bg1">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Arrow: Right 34">
            <a:extLst>
              <a:ext uri="{FF2B5EF4-FFF2-40B4-BE49-F238E27FC236}">
                <a16:creationId xmlns:a16="http://schemas.microsoft.com/office/drawing/2014/main" id="{3B1CB4B9-7A81-D99D-A6E1-A3DF40D0B8E8}"/>
              </a:ext>
            </a:extLst>
          </p:cNvPr>
          <p:cNvSpPr/>
          <p:nvPr/>
        </p:nvSpPr>
        <p:spPr>
          <a:xfrm>
            <a:off x="9478441" y="3274622"/>
            <a:ext cx="285011" cy="317241"/>
          </a:xfrm>
          <a:prstGeom prst="rightArrow">
            <a:avLst/>
          </a:prstGeom>
          <a:solidFill>
            <a:schemeClr val="bg1">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A2190B2-5F75-BAEC-9E69-BD97091F1726}"/>
              </a:ext>
            </a:extLst>
          </p:cNvPr>
          <p:cNvSpPr txBox="1"/>
          <p:nvPr/>
        </p:nvSpPr>
        <p:spPr>
          <a:xfrm>
            <a:off x="306042" y="5095555"/>
            <a:ext cx="11621312" cy="400110"/>
          </a:xfrm>
          <a:prstGeom prst="rect">
            <a:avLst/>
          </a:prstGeom>
          <a:noFill/>
          <a:ln>
            <a:noFill/>
          </a:ln>
        </p:spPr>
        <p:txBody>
          <a:bodyPr wrap="square" rtlCol="0">
            <a:spAutoFit/>
          </a:bodyPr>
          <a:lstStyle/>
          <a:p>
            <a:r>
              <a:rPr lang="en-US" sz="2000" i="1" dirty="0"/>
              <a:t>*Delta Radiomics are the ratio of Week 8 radiomics features to Baseline radiomics</a:t>
            </a:r>
          </a:p>
        </p:txBody>
      </p:sp>
    </p:spTree>
    <p:extLst>
      <p:ext uri="{BB962C8B-B14F-4D97-AF65-F5344CB8AC3E}">
        <p14:creationId xmlns:p14="http://schemas.microsoft.com/office/powerpoint/2010/main" val="3824006149"/>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CCD8A-65C2-C4A6-59D8-8D991F1F8459}"/>
              </a:ext>
            </a:extLst>
          </p:cNvPr>
          <p:cNvSpPr>
            <a:spLocks noGrp="1"/>
          </p:cNvSpPr>
          <p:nvPr>
            <p:ph type="title"/>
          </p:nvPr>
        </p:nvSpPr>
        <p:spPr/>
        <p:txBody>
          <a:bodyPr/>
          <a:lstStyle/>
          <a:p>
            <a:r>
              <a:rPr lang="en-US" dirty="0"/>
              <a:t>Dimensionality Reduction</a:t>
            </a:r>
          </a:p>
        </p:txBody>
      </p:sp>
      <p:sp>
        <p:nvSpPr>
          <p:cNvPr id="3" name="Slide Number Placeholder 2">
            <a:extLst>
              <a:ext uri="{FF2B5EF4-FFF2-40B4-BE49-F238E27FC236}">
                <a16:creationId xmlns:a16="http://schemas.microsoft.com/office/drawing/2014/main" id="{6C8B5099-0F10-3650-FB2D-534DE423EACF}"/>
              </a:ext>
            </a:extLst>
          </p:cNvPr>
          <p:cNvSpPr>
            <a:spLocks noGrp="1"/>
          </p:cNvSpPr>
          <p:nvPr>
            <p:ph type="sldNum" sz="quarter" idx="4"/>
          </p:nvPr>
        </p:nvSpPr>
        <p:spPr/>
        <p:txBody>
          <a:bodyPr/>
          <a:lstStyle/>
          <a:p>
            <a:fld id="{7D871F5F-C8AF-484B-B19A-A0CBCE8C7764}" type="slidenum">
              <a:rPr lang="en-US" smtClean="0"/>
              <a:t>6</a:t>
            </a:fld>
            <a:endParaRPr lang="en-US"/>
          </a:p>
        </p:txBody>
      </p:sp>
      <p:sp>
        <p:nvSpPr>
          <p:cNvPr id="5" name="TextBox 4">
            <a:extLst>
              <a:ext uri="{FF2B5EF4-FFF2-40B4-BE49-F238E27FC236}">
                <a16:creationId xmlns:a16="http://schemas.microsoft.com/office/drawing/2014/main" id="{3A73E8F0-784B-A380-4E3C-843EC21A8AC0}"/>
              </a:ext>
            </a:extLst>
          </p:cNvPr>
          <p:cNvSpPr txBox="1"/>
          <p:nvPr/>
        </p:nvSpPr>
        <p:spPr>
          <a:xfrm>
            <a:off x="285344" y="1742157"/>
            <a:ext cx="11621312" cy="1015663"/>
          </a:xfrm>
          <a:prstGeom prst="rect">
            <a:avLst/>
          </a:prstGeom>
          <a:noFill/>
          <a:ln>
            <a:noFill/>
          </a:ln>
        </p:spPr>
        <p:txBody>
          <a:bodyPr wrap="square" rtlCol="0">
            <a:spAutoFit/>
          </a:bodyPr>
          <a:lstStyle/>
          <a:p>
            <a:pPr marL="285750" indent="-285750">
              <a:buFont typeface="Arial" panose="020B0604020202020204" pitchFamily="34" charset="0"/>
              <a:buChar char="•"/>
            </a:pPr>
            <a:r>
              <a:rPr lang="en-US" sz="2000" dirty="0"/>
              <a:t>Radiomics and Clinical features stacked across columns resulting in 205 columns (features) for each patient</a:t>
            </a:r>
          </a:p>
          <a:p>
            <a:pPr marL="285750" indent="-285750">
              <a:buFont typeface="Arial" panose="020B0604020202020204" pitchFamily="34" charset="0"/>
              <a:buChar char="•"/>
            </a:pPr>
            <a:r>
              <a:rPr lang="en-US" sz="2000" dirty="0"/>
              <a:t>First 3 Principal components used for Radiomic and Delta Radiomic features</a:t>
            </a:r>
          </a:p>
          <a:p>
            <a:pPr marL="742950" lvl="1" indent="-285750">
              <a:buFont typeface="Arial" panose="020B0604020202020204" pitchFamily="34" charset="0"/>
              <a:buChar char="•"/>
            </a:pPr>
            <a:r>
              <a:rPr lang="en-US" sz="2000" dirty="0"/>
              <a:t>70% of the variability accounted for by first 3 principal components</a:t>
            </a:r>
          </a:p>
        </p:txBody>
      </p:sp>
      <p:sp>
        <p:nvSpPr>
          <p:cNvPr id="14" name="Right Brace 13">
            <a:extLst>
              <a:ext uri="{FF2B5EF4-FFF2-40B4-BE49-F238E27FC236}">
                <a16:creationId xmlns:a16="http://schemas.microsoft.com/office/drawing/2014/main" id="{A645D33B-0A11-4BA3-1EF2-98A9244D5646}"/>
              </a:ext>
            </a:extLst>
          </p:cNvPr>
          <p:cNvSpPr/>
          <p:nvPr/>
        </p:nvSpPr>
        <p:spPr>
          <a:xfrm>
            <a:off x="15374046" y="3529359"/>
            <a:ext cx="135191" cy="42808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31A5953F-071D-BAFC-7FFC-AB4C1588E0D4}"/>
              </a:ext>
            </a:extLst>
          </p:cNvPr>
          <p:cNvSpPr txBox="1"/>
          <p:nvPr/>
        </p:nvSpPr>
        <p:spPr>
          <a:xfrm>
            <a:off x="15649330" y="3455599"/>
            <a:ext cx="1357359" cy="523220"/>
          </a:xfrm>
          <a:prstGeom prst="rect">
            <a:avLst/>
          </a:prstGeom>
          <a:noFill/>
        </p:spPr>
        <p:txBody>
          <a:bodyPr wrap="none" rtlCol="0">
            <a:spAutoFit/>
          </a:bodyPr>
          <a:lstStyle/>
          <a:p>
            <a:r>
              <a:rPr lang="en-US" sz="1400" dirty="0"/>
              <a:t>15-dimensional </a:t>
            </a:r>
          </a:p>
          <a:p>
            <a:r>
              <a:rPr lang="en-US" sz="1400" dirty="0"/>
              <a:t>covariate vector</a:t>
            </a:r>
          </a:p>
        </p:txBody>
      </p:sp>
      <p:pic>
        <p:nvPicPr>
          <p:cNvPr id="22" name="Picture 21">
            <a:extLst>
              <a:ext uri="{FF2B5EF4-FFF2-40B4-BE49-F238E27FC236}">
                <a16:creationId xmlns:a16="http://schemas.microsoft.com/office/drawing/2014/main" id="{1B8B5CFF-6C6B-CDC2-FA50-EE2E54016247}"/>
              </a:ext>
            </a:extLst>
          </p:cNvPr>
          <p:cNvPicPr>
            <a:picLocks noChangeAspect="1"/>
          </p:cNvPicPr>
          <p:nvPr/>
        </p:nvPicPr>
        <p:blipFill>
          <a:blip r:embed="rId3"/>
          <a:stretch>
            <a:fillRect/>
          </a:stretch>
        </p:blipFill>
        <p:spPr>
          <a:xfrm>
            <a:off x="-1794193" y="7342746"/>
            <a:ext cx="8693649" cy="579170"/>
          </a:xfrm>
          <a:prstGeom prst="rect">
            <a:avLst/>
          </a:prstGeom>
        </p:spPr>
      </p:pic>
      <p:grpSp>
        <p:nvGrpSpPr>
          <p:cNvPr id="31" name="Group 30">
            <a:extLst>
              <a:ext uri="{FF2B5EF4-FFF2-40B4-BE49-F238E27FC236}">
                <a16:creationId xmlns:a16="http://schemas.microsoft.com/office/drawing/2014/main" id="{5113E0FA-D4A1-3967-60AD-46344916898F}"/>
              </a:ext>
            </a:extLst>
          </p:cNvPr>
          <p:cNvGrpSpPr/>
          <p:nvPr/>
        </p:nvGrpSpPr>
        <p:grpSpPr>
          <a:xfrm>
            <a:off x="154766" y="3406442"/>
            <a:ext cx="11882467" cy="1654953"/>
            <a:chOff x="203557" y="2679324"/>
            <a:chExt cx="11882467" cy="1654953"/>
          </a:xfrm>
        </p:grpSpPr>
        <p:grpSp>
          <p:nvGrpSpPr>
            <p:cNvPr id="16" name="Group 15">
              <a:extLst>
                <a:ext uri="{FF2B5EF4-FFF2-40B4-BE49-F238E27FC236}">
                  <a16:creationId xmlns:a16="http://schemas.microsoft.com/office/drawing/2014/main" id="{6CAE10C7-3ABB-2CBF-C9E9-35D78A0DA38A}"/>
                </a:ext>
              </a:extLst>
            </p:cNvPr>
            <p:cNvGrpSpPr/>
            <p:nvPr/>
          </p:nvGrpSpPr>
          <p:grpSpPr>
            <a:xfrm>
              <a:off x="2318107" y="2746131"/>
              <a:ext cx="9767917" cy="317241"/>
              <a:chOff x="5643037" y="6006010"/>
              <a:chExt cx="6285790" cy="317241"/>
            </a:xfrm>
          </p:grpSpPr>
          <p:sp>
            <p:nvSpPr>
              <p:cNvPr id="6" name="Rectangle 5">
                <a:extLst>
                  <a:ext uri="{FF2B5EF4-FFF2-40B4-BE49-F238E27FC236}">
                    <a16:creationId xmlns:a16="http://schemas.microsoft.com/office/drawing/2014/main" id="{573AEADD-0422-092D-D218-A7C36B882769}"/>
                  </a:ext>
                </a:extLst>
              </p:cNvPr>
              <p:cNvSpPr/>
              <p:nvPr/>
            </p:nvSpPr>
            <p:spPr>
              <a:xfrm>
                <a:off x="5643037" y="6006010"/>
                <a:ext cx="2330451" cy="317241"/>
              </a:xfrm>
              <a:prstGeom prst="rect">
                <a:avLst/>
              </a:prstGeom>
              <a:solidFill>
                <a:schemeClr val="bg1">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Baseline Radiomics Features (N=98)</a:t>
                </a:r>
              </a:p>
            </p:txBody>
          </p:sp>
          <p:sp>
            <p:nvSpPr>
              <p:cNvPr id="7" name="Rectangle 6">
                <a:extLst>
                  <a:ext uri="{FF2B5EF4-FFF2-40B4-BE49-F238E27FC236}">
                    <a16:creationId xmlns:a16="http://schemas.microsoft.com/office/drawing/2014/main" id="{AED0F019-AAE8-0C54-5DA7-FD122D423019}"/>
                  </a:ext>
                </a:extLst>
              </p:cNvPr>
              <p:cNvSpPr/>
              <p:nvPr/>
            </p:nvSpPr>
            <p:spPr>
              <a:xfrm>
                <a:off x="7973488" y="6006010"/>
                <a:ext cx="2330451" cy="317241"/>
              </a:xfrm>
              <a:prstGeom prst="rect">
                <a:avLst/>
              </a:prstGeom>
              <a:solidFill>
                <a:schemeClr val="bg1">
                  <a:lumMod val="65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Delta Radiomics Features (N=98)</a:t>
                </a:r>
              </a:p>
            </p:txBody>
          </p:sp>
          <p:sp>
            <p:nvSpPr>
              <p:cNvPr id="8" name="Rectangle 7">
                <a:extLst>
                  <a:ext uri="{FF2B5EF4-FFF2-40B4-BE49-F238E27FC236}">
                    <a16:creationId xmlns:a16="http://schemas.microsoft.com/office/drawing/2014/main" id="{5F2387E1-F4A4-2D7F-F7A5-D933B3E80112}"/>
                  </a:ext>
                </a:extLst>
              </p:cNvPr>
              <p:cNvSpPr/>
              <p:nvPr/>
            </p:nvSpPr>
            <p:spPr>
              <a:xfrm>
                <a:off x="10300464" y="6006010"/>
                <a:ext cx="1628363" cy="317241"/>
              </a:xfrm>
              <a:prstGeom prst="rect">
                <a:avLst/>
              </a:prstGeom>
              <a:solidFill>
                <a:schemeClr val="bg1">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Clinical Features (N=9)</a:t>
                </a:r>
              </a:p>
            </p:txBody>
          </p:sp>
        </p:grpSp>
        <p:sp>
          <p:nvSpPr>
            <p:cNvPr id="17" name="TextBox 16">
              <a:extLst>
                <a:ext uri="{FF2B5EF4-FFF2-40B4-BE49-F238E27FC236}">
                  <a16:creationId xmlns:a16="http://schemas.microsoft.com/office/drawing/2014/main" id="{A49C058D-8456-B269-6ED8-23FF94FE5AB1}"/>
                </a:ext>
              </a:extLst>
            </p:cNvPr>
            <p:cNvSpPr txBox="1"/>
            <p:nvPr/>
          </p:nvSpPr>
          <p:spPr>
            <a:xfrm>
              <a:off x="203557" y="2679324"/>
              <a:ext cx="2114550" cy="400110"/>
            </a:xfrm>
            <a:prstGeom prst="rect">
              <a:avLst/>
            </a:prstGeom>
            <a:noFill/>
          </p:spPr>
          <p:txBody>
            <a:bodyPr wrap="square" rtlCol="0">
              <a:spAutoFit/>
            </a:bodyPr>
            <a:lstStyle/>
            <a:p>
              <a:r>
                <a:rPr lang="en-US" sz="2000" dirty="0"/>
                <a:t>Original Features</a:t>
              </a:r>
            </a:p>
          </p:txBody>
        </p:sp>
        <p:sp>
          <p:nvSpPr>
            <p:cNvPr id="18" name="Arrow: Down 17">
              <a:extLst>
                <a:ext uri="{FF2B5EF4-FFF2-40B4-BE49-F238E27FC236}">
                  <a16:creationId xmlns:a16="http://schemas.microsoft.com/office/drawing/2014/main" id="{93BE7D71-DEBC-6284-5043-FA1A14F0D3FE}"/>
                </a:ext>
              </a:extLst>
            </p:cNvPr>
            <p:cNvSpPr/>
            <p:nvPr/>
          </p:nvSpPr>
          <p:spPr>
            <a:xfrm flipH="1">
              <a:off x="4606250" y="3141708"/>
              <a:ext cx="228601" cy="830997"/>
            </a:xfrm>
            <a:prstGeom prst="down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Arrow: Down 18">
              <a:extLst>
                <a:ext uri="{FF2B5EF4-FFF2-40B4-BE49-F238E27FC236}">
                  <a16:creationId xmlns:a16="http://schemas.microsoft.com/office/drawing/2014/main" id="{2DCB0F65-4EDD-8437-C2CA-E132DE25454F}"/>
                </a:ext>
              </a:extLst>
            </p:cNvPr>
            <p:cNvSpPr/>
            <p:nvPr/>
          </p:nvSpPr>
          <p:spPr>
            <a:xfrm flipH="1">
              <a:off x="6833946" y="3131433"/>
              <a:ext cx="228601" cy="841271"/>
            </a:xfrm>
            <a:prstGeom prst="downArrow">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746854E9-1D2B-93DC-C29E-FF06817124DC}"/>
                </a:ext>
              </a:extLst>
            </p:cNvPr>
            <p:cNvSpPr/>
            <p:nvPr/>
          </p:nvSpPr>
          <p:spPr>
            <a:xfrm>
              <a:off x="3606873" y="4017036"/>
              <a:ext cx="2261953" cy="317241"/>
            </a:xfrm>
            <a:prstGeom prst="rect">
              <a:avLst/>
            </a:prstGeom>
            <a:solidFill>
              <a:schemeClr val="bg1">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000" dirty="0"/>
                <a:t>B (N=3)</a:t>
              </a:r>
            </a:p>
          </p:txBody>
        </p:sp>
        <p:sp>
          <p:nvSpPr>
            <p:cNvPr id="21" name="Rectangle 20">
              <a:extLst>
                <a:ext uri="{FF2B5EF4-FFF2-40B4-BE49-F238E27FC236}">
                  <a16:creationId xmlns:a16="http://schemas.microsoft.com/office/drawing/2014/main" id="{52BA89E8-8A44-DC13-9C97-3F875DDAE1F8}"/>
                </a:ext>
              </a:extLst>
            </p:cNvPr>
            <p:cNvSpPr/>
            <p:nvPr/>
          </p:nvSpPr>
          <p:spPr>
            <a:xfrm>
              <a:off x="5868826" y="4017035"/>
              <a:ext cx="2261953" cy="317241"/>
            </a:xfrm>
            <a:prstGeom prst="rect">
              <a:avLst/>
            </a:prstGeom>
            <a:solidFill>
              <a:schemeClr val="bg1">
                <a:lumMod val="65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000" dirty="0"/>
                <a:t>D (N=3)</a:t>
              </a:r>
            </a:p>
          </p:txBody>
        </p:sp>
        <p:sp>
          <p:nvSpPr>
            <p:cNvPr id="25" name="Arrow: Down 24">
              <a:extLst>
                <a:ext uri="{FF2B5EF4-FFF2-40B4-BE49-F238E27FC236}">
                  <a16:creationId xmlns:a16="http://schemas.microsoft.com/office/drawing/2014/main" id="{75854C5D-D586-BF29-0E5A-697C9EAB88D9}"/>
                </a:ext>
              </a:extLst>
            </p:cNvPr>
            <p:cNvSpPr/>
            <p:nvPr/>
          </p:nvSpPr>
          <p:spPr>
            <a:xfrm flipH="1">
              <a:off x="9579484" y="3141708"/>
              <a:ext cx="228601" cy="830995"/>
            </a:xfrm>
            <a:prstGeom prst="downArrow">
              <a:avLst/>
            </a:prstGeom>
            <a:solidFill>
              <a:schemeClr val="bg1">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D4F6C62-88E8-B9C7-53C6-A0118B9F9E33}"/>
                </a:ext>
              </a:extLst>
            </p:cNvPr>
            <p:cNvSpPr/>
            <p:nvPr/>
          </p:nvSpPr>
          <p:spPr>
            <a:xfrm>
              <a:off x="8130779" y="4013846"/>
              <a:ext cx="2530424" cy="317241"/>
            </a:xfrm>
            <a:prstGeom prst="rect">
              <a:avLst/>
            </a:prstGeom>
            <a:solidFill>
              <a:schemeClr val="bg1">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000" dirty="0"/>
                <a:t>C (N=9)</a:t>
              </a:r>
            </a:p>
          </p:txBody>
        </p:sp>
        <p:sp>
          <p:nvSpPr>
            <p:cNvPr id="28" name="TextBox 27">
              <a:extLst>
                <a:ext uri="{FF2B5EF4-FFF2-40B4-BE49-F238E27FC236}">
                  <a16:creationId xmlns:a16="http://schemas.microsoft.com/office/drawing/2014/main" id="{8F8F6D03-2607-873E-117D-5C1D533C2219}"/>
                </a:ext>
              </a:extLst>
            </p:cNvPr>
            <p:cNvSpPr txBox="1"/>
            <p:nvPr/>
          </p:nvSpPr>
          <p:spPr>
            <a:xfrm>
              <a:off x="203557" y="3930977"/>
              <a:ext cx="2530423" cy="400110"/>
            </a:xfrm>
            <a:prstGeom prst="rect">
              <a:avLst/>
            </a:prstGeom>
            <a:noFill/>
          </p:spPr>
          <p:txBody>
            <a:bodyPr wrap="square" rtlCol="0">
              <a:spAutoFit/>
            </a:bodyPr>
            <a:lstStyle/>
            <a:p>
              <a:r>
                <a:rPr lang="en-US" sz="2000" dirty="0"/>
                <a:t>Processed Features</a:t>
              </a:r>
            </a:p>
          </p:txBody>
        </p:sp>
        <p:sp>
          <p:nvSpPr>
            <p:cNvPr id="30" name="TextBox 29">
              <a:extLst>
                <a:ext uri="{FF2B5EF4-FFF2-40B4-BE49-F238E27FC236}">
                  <a16:creationId xmlns:a16="http://schemas.microsoft.com/office/drawing/2014/main" id="{B34CD967-E97C-406C-D98C-004D67E765F1}"/>
                </a:ext>
              </a:extLst>
            </p:cNvPr>
            <p:cNvSpPr txBox="1"/>
            <p:nvPr/>
          </p:nvSpPr>
          <p:spPr>
            <a:xfrm>
              <a:off x="5069898" y="3136569"/>
              <a:ext cx="1444708" cy="830997"/>
            </a:xfrm>
            <a:prstGeom prst="rect">
              <a:avLst/>
            </a:prstGeom>
            <a:noFill/>
          </p:spPr>
          <p:txBody>
            <a:bodyPr wrap="square" rtlCol="0">
              <a:spAutoFit/>
            </a:bodyPr>
            <a:lstStyle/>
            <a:p>
              <a:pPr algn="ctr"/>
              <a:r>
                <a:rPr lang="en-US" sz="1600" dirty="0">
                  <a:solidFill>
                    <a:srgbClr val="0070C0"/>
                  </a:solidFill>
                </a:rPr>
                <a:t>Principal Components Analysis</a:t>
              </a:r>
            </a:p>
          </p:txBody>
        </p:sp>
      </p:grpSp>
    </p:spTree>
    <p:extLst>
      <p:ext uri="{BB962C8B-B14F-4D97-AF65-F5344CB8AC3E}">
        <p14:creationId xmlns:p14="http://schemas.microsoft.com/office/powerpoint/2010/main" val="34300072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F8FDF88-14A6-895F-D5E0-1D946361B200}"/>
              </a:ext>
            </a:extLst>
          </p:cNvPr>
          <p:cNvPicPr>
            <a:picLocks noChangeAspect="1"/>
          </p:cNvPicPr>
          <p:nvPr/>
        </p:nvPicPr>
        <p:blipFill>
          <a:blip r:embed="rId4"/>
          <a:stretch>
            <a:fillRect/>
          </a:stretch>
        </p:blipFill>
        <p:spPr>
          <a:xfrm>
            <a:off x="4495080" y="1640506"/>
            <a:ext cx="7345490" cy="4283535"/>
          </a:xfrm>
          <a:prstGeom prst="rect">
            <a:avLst/>
          </a:prstGeom>
        </p:spPr>
      </p:pic>
      <p:sp>
        <p:nvSpPr>
          <p:cNvPr id="2" name="Title 1">
            <a:extLst>
              <a:ext uri="{FF2B5EF4-FFF2-40B4-BE49-F238E27FC236}">
                <a16:creationId xmlns:a16="http://schemas.microsoft.com/office/drawing/2014/main" id="{2B15BEB0-EC19-1A22-6EFE-F00AD5147772}"/>
              </a:ext>
            </a:extLst>
          </p:cNvPr>
          <p:cNvSpPr>
            <a:spLocks noGrp="1"/>
          </p:cNvSpPr>
          <p:nvPr>
            <p:ph type="title"/>
          </p:nvPr>
        </p:nvSpPr>
        <p:spPr>
          <a:xfrm>
            <a:off x="497392" y="59935"/>
            <a:ext cx="10518081" cy="926020"/>
          </a:xfrm>
        </p:spPr>
        <p:txBody>
          <a:bodyPr/>
          <a:lstStyle/>
          <a:p>
            <a:r>
              <a:rPr lang="en-US" dirty="0"/>
              <a:t>Interactions Selection</a:t>
            </a:r>
          </a:p>
        </p:txBody>
      </p:sp>
      <p:sp>
        <p:nvSpPr>
          <p:cNvPr id="3" name="Slide Number Placeholder 2">
            <a:extLst>
              <a:ext uri="{FF2B5EF4-FFF2-40B4-BE49-F238E27FC236}">
                <a16:creationId xmlns:a16="http://schemas.microsoft.com/office/drawing/2014/main" id="{08A7AED3-2CBA-98E9-16CF-51C6D9F5E139}"/>
              </a:ext>
            </a:extLst>
          </p:cNvPr>
          <p:cNvSpPr>
            <a:spLocks noGrp="1"/>
          </p:cNvSpPr>
          <p:nvPr>
            <p:ph type="sldNum" sz="quarter" idx="4"/>
          </p:nvPr>
        </p:nvSpPr>
        <p:spPr/>
        <p:txBody>
          <a:bodyPr/>
          <a:lstStyle/>
          <a:p>
            <a:fld id="{7D871F5F-C8AF-484B-B19A-A0CBCE8C7764}" type="slidenum">
              <a:rPr lang="en-US" smtClean="0"/>
              <a:t>7</a:t>
            </a:fld>
            <a:endParaRPr lang="en-US"/>
          </a:p>
        </p:txBody>
      </p:sp>
      <p:sp>
        <p:nvSpPr>
          <p:cNvPr id="8" name="Rectangle 7">
            <a:extLst>
              <a:ext uri="{FF2B5EF4-FFF2-40B4-BE49-F238E27FC236}">
                <a16:creationId xmlns:a16="http://schemas.microsoft.com/office/drawing/2014/main" id="{9E108D06-7D4E-7224-CAE8-8AE600DEA93C}"/>
              </a:ext>
            </a:extLst>
          </p:cNvPr>
          <p:cNvSpPr/>
          <p:nvPr/>
        </p:nvSpPr>
        <p:spPr>
          <a:xfrm>
            <a:off x="4399984" y="1539089"/>
            <a:ext cx="7514376" cy="4553893"/>
          </a:xfrm>
          <a:prstGeom prst="rect">
            <a:avLst/>
          </a:prstGeom>
          <a:no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6F8E9FE-6327-9840-28AD-BC1165C79350}"/>
              </a:ext>
            </a:extLst>
          </p:cNvPr>
          <p:cNvSpPr txBox="1"/>
          <p:nvPr/>
        </p:nvSpPr>
        <p:spPr>
          <a:xfrm>
            <a:off x="596738" y="886529"/>
            <a:ext cx="5499262" cy="369332"/>
          </a:xfrm>
          <a:prstGeom prst="rect">
            <a:avLst/>
          </a:prstGeom>
          <a:noFill/>
        </p:spPr>
        <p:txBody>
          <a:bodyPr wrap="none" rtlCol="0">
            <a:spAutoFit/>
          </a:bodyPr>
          <a:lstStyle/>
          <a:p>
            <a:pPr algn="ctr"/>
            <a:r>
              <a:rPr lang="en-US" b="1" dirty="0"/>
              <a:t>Variable Importance of Cox Proportional Hazards Model</a:t>
            </a:r>
          </a:p>
        </p:txBody>
      </p:sp>
      <p:grpSp>
        <p:nvGrpSpPr>
          <p:cNvPr id="13" name="Group 12">
            <a:extLst>
              <a:ext uri="{FF2B5EF4-FFF2-40B4-BE49-F238E27FC236}">
                <a16:creationId xmlns:a16="http://schemas.microsoft.com/office/drawing/2014/main" id="{A397D647-0751-F8F0-63E9-93DA7D3859AD}"/>
              </a:ext>
            </a:extLst>
          </p:cNvPr>
          <p:cNvGrpSpPr/>
          <p:nvPr/>
        </p:nvGrpSpPr>
        <p:grpSpPr>
          <a:xfrm>
            <a:off x="4495078" y="1593370"/>
            <a:ext cx="7345491" cy="3855709"/>
            <a:chOff x="4495078" y="1593370"/>
            <a:chExt cx="7345491" cy="3855709"/>
          </a:xfrm>
        </p:grpSpPr>
        <p:sp>
          <p:nvSpPr>
            <p:cNvPr id="5" name="Rectangle 4">
              <a:extLst>
                <a:ext uri="{FF2B5EF4-FFF2-40B4-BE49-F238E27FC236}">
                  <a16:creationId xmlns:a16="http://schemas.microsoft.com/office/drawing/2014/main" id="{196C5112-3561-6D7F-74E8-EFBF7AA21496}"/>
                </a:ext>
              </a:extLst>
            </p:cNvPr>
            <p:cNvSpPr/>
            <p:nvPr/>
          </p:nvSpPr>
          <p:spPr>
            <a:xfrm>
              <a:off x="4495079" y="1593370"/>
              <a:ext cx="7261491" cy="1205814"/>
            </a:xfrm>
            <a:prstGeom prst="rect">
              <a:avLst/>
            </a:prstGeom>
            <a:solidFill>
              <a:schemeClr val="bg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9814F9F-0A06-4F1F-D47E-681062BB281B}"/>
                </a:ext>
              </a:extLst>
            </p:cNvPr>
            <p:cNvSpPr/>
            <p:nvPr/>
          </p:nvSpPr>
          <p:spPr>
            <a:xfrm>
              <a:off x="4495078" y="3285320"/>
              <a:ext cx="7345491" cy="1979309"/>
            </a:xfrm>
            <a:prstGeom prst="rect">
              <a:avLst/>
            </a:prstGeom>
            <a:solidFill>
              <a:schemeClr val="bg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29E876-3A5C-A796-FDC8-13B59893B008}"/>
                </a:ext>
              </a:extLst>
            </p:cNvPr>
            <p:cNvSpPr/>
            <p:nvPr/>
          </p:nvSpPr>
          <p:spPr>
            <a:xfrm>
              <a:off x="4526427" y="2779129"/>
              <a:ext cx="7230144" cy="506191"/>
            </a:xfrm>
            <a:prstGeom prst="rect">
              <a:avLst/>
            </a:prstGeom>
            <a:solidFill>
              <a:srgbClr val="FFFF00">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1411F68-9353-9BEE-26AC-BA46D3084A48}"/>
                </a:ext>
              </a:extLst>
            </p:cNvPr>
            <p:cNvSpPr/>
            <p:nvPr/>
          </p:nvSpPr>
          <p:spPr>
            <a:xfrm>
              <a:off x="4526426" y="5217495"/>
              <a:ext cx="7314143" cy="231584"/>
            </a:xfrm>
            <a:prstGeom prst="rect">
              <a:avLst/>
            </a:prstGeom>
            <a:solidFill>
              <a:srgbClr val="FFFF00">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108EA6D5-249F-664E-405E-316680DAFA15}"/>
              </a:ext>
            </a:extLst>
          </p:cNvPr>
          <p:cNvSpPr txBox="1"/>
          <p:nvPr/>
        </p:nvSpPr>
        <p:spPr>
          <a:xfrm>
            <a:off x="327651" y="2305615"/>
            <a:ext cx="3988333" cy="2246769"/>
          </a:xfrm>
          <a:prstGeom prst="rect">
            <a:avLst/>
          </a:prstGeom>
          <a:noFill/>
        </p:spPr>
        <p:txBody>
          <a:bodyPr wrap="square" rtlCol="0">
            <a:spAutoFit/>
          </a:bodyPr>
          <a:lstStyle/>
          <a:p>
            <a:pPr marL="285750" indent="-285750">
              <a:buFont typeface="Arial" panose="020B0604020202020204" pitchFamily="34" charset="0"/>
              <a:buChar char="•"/>
            </a:pPr>
            <a:r>
              <a:rPr lang="en-US" sz="2000" dirty="0"/>
              <a:t>Significant Features (p &lt;0.05)</a:t>
            </a:r>
          </a:p>
          <a:p>
            <a:pPr marL="742950" lvl="1" indent="-285750">
              <a:buFont typeface="Arial" panose="020B0604020202020204" pitchFamily="34" charset="0"/>
              <a:buChar char="•"/>
            </a:pPr>
            <a:r>
              <a:rPr lang="en-US" sz="2000" dirty="0"/>
              <a:t>Delta PC3</a:t>
            </a:r>
          </a:p>
          <a:p>
            <a:pPr marL="742950" lvl="1" indent="-285750">
              <a:buFont typeface="Arial" panose="020B0604020202020204" pitchFamily="34" charset="0"/>
              <a:buChar char="•"/>
            </a:pPr>
            <a:r>
              <a:rPr lang="en-US" sz="2000" dirty="0"/>
              <a:t>LiverBL</a:t>
            </a:r>
          </a:p>
          <a:p>
            <a:pPr marL="742950" lvl="1" indent="-285750">
              <a:buFont typeface="Arial" panose="020B0604020202020204" pitchFamily="34" charset="0"/>
              <a:buChar char="•"/>
            </a:pPr>
            <a:r>
              <a:rPr lang="en-US" sz="2000" dirty="0"/>
              <a:t>Ribociclib Arm</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Pairwise interactions also modeled among these features</a:t>
            </a:r>
          </a:p>
        </p:txBody>
      </p:sp>
    </p:spTree>
    <p:extLst>
      <p:ext uri="{BB962C8B-B14F-4D97-AF65-F5344CB8AC3E}">
        <p14:creationId xmlns:p14="http://schemas.microsoft.com/office/powerpoint/2010/main" val="377693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F4440-B0D0-8A35-768E-EB5D89CA45A2}"/>
              </a:ext>
            </a:extLst>
          </p:cNvPr>
          <p:cNvSpPr>
            <a:spLocks noGrp="1"/>
          </p:cNvSpPr>
          <p:nvPr>
            <p:ph type="title"/>
          </p:nvPr>
        </p:nvSpPr>
        <p:spPr/>
        <p:txBody>
          <a:bodyPr/>
          <a:lstStyle/>
          <a:p>
            <a:r>
              <a:rPr lang="en-US" dirty="0"/>
              <a:t>Results: Model Performance</a:t>
            </a:r>
          </a:p>
        </p:txBody>
      </p:sp>
      <p:sp>
        <p:nvSpPr>
          <p:cNvPr id="3" name="Slide Number Placeholder 2">
            <a:extLst>
              <a:ext uri="{FF2B5EF4-FFF2-40B4-BE49-F238E27FC236}">
                <a16:creationId xmlns:a16="http://schemas.microsoft.com/office/drawing/2014/main" id="{F8A741B9-76A2-7165-B808-050D213F06AC}"/>
              </a:ext>
            </a:extLst>
          </p:cNvPr>
          <p:cNvSpPr>
            <a:spLocks noGrp="1"/>
          </p:cNvSpPr>
          <p:nvPr>
            <p:ph type="sldNum" sz="quarter" idx="4"/>
          </p:nvPr>
        </p:nvSpPr>
        <p:spPr/>
        <p:txBody>
          <a:bodyPr/>
          <a:lstStyle/>
          <a:p>
            <a:fld id="{7D871F5F-C8AF-484B-B19A-A0CBCE8C7764}" type="slidenum">
              <a:rPr lang="en-US" smtClean="0"/>
              <a:t>8</a:t>
            </a:fld>
            <a:endParaRPr lang="en-US"/>
          </a:p>
        </p:txBody>
      </p:sp>
      <p:pic>
        <p:nvPicPr>
          <p:cNvPr id="4" name="Picture 3" descr="Chart, box and whisker chart&#10;&#10;Description automatically generated">
            <a:extLst>
              <a:ext uri="{FF2B5EF4-FFF2-40B4-BE49-F238E27FC236}">
                <a16:creationId xmlns:a16="http://schemas.microsoft.com/office/drawing/2014/main" id="{5D3F143A-89DA-DCC4-38B7-126B6729D481}"/>
              </a:ext>
            </a:extLst>
          </p:cNvPr>
          <p:cNvPicPr>
            <a:picLocks noChangeAspect="1"/>
          </p:cNvPicPr>
          <p:nvPr/>
        </p:nvPicPr>
        <p:blipFill>
          <a:blip r:embed="rId4"/>
          <a:srcRect r="-1696" b="9892"/>
          <a:stretch/>
        </p:blipFill>
        <p:spPr>
          <a:xfrm>
            <a:off x="229576" y="782844"/>
            <a:ext cx="4212692" cy="4540448"/>
          </a:xfrm>
          <a:prstGeom prst="rect">
            <a:avLst/>
          </a:prstGeom>
        </p:spPr>
      </p:pic>
      <p:sp>
        <p:nvSpPr>
          <p:cNvPr id="5" name="TextBox 4">
            <a:extLst>
              <a:ext uri="{FF2B5EF4-FFF2-40B4-BE49-F238E27FC236}">
                <a16:creationId xmlns:a16="http://schemas.microsoft.com/office/drawing/2014/main" id="{4610D75F-E632-521B-9299-6525E3F74992}"/>
              </a:ext>
            </a:extLst>
          </p:cNvPr>
          <p:cNvSpPr txBox="1"/>
          <p:nvPr/>
        </p:nvSpPr>
        <p:spPr>
          <a:xfrm>
            <a:off x="178869" y="5362640"/>
            <a:ext cx="6549922" cy="1200329"/>
          </a:xfrm>
          <a:prstGeom prst="rect">
            <a:avLst/>
          </a:prstGeom>
          <a:noFill/>
          <a:ln>
            <a:solidFill>
              <a:schemeClr val="tx1"/>
            </a:solidFill>
          </a:ln>
        </p:spPr>
        <p:txBody>
          <a:bodyPr wrap="square" rtlCol="0">
            <a:spAutoFit/>
          </a:bodyPr>
          <a:lstStyle/>
          <a:p>
            <a:r>
              <a:rPr lang="en-US" dirty="0">
                <a:solidFill>
                  <a:srgbClr val="F8766D"/>
                </a:solidFill>
              </a:rPr>
              <a:t>B: </a:t>
            </a:r>
            <a:r>
              <a:rPr lang="en-US" dirty="0"/>
              <a:t>Baseline Radiomics Only - 3  features</a:t>
            </a:r>
          </a:p>
          <a:p>
            <a:r>
              <a:rPr lang="en-US" dirty="0">
                <a:solidFill>
                  <a:srgbClr val="79AB00"/>
                </a:solidFill>
              </a:rPr>
              <a:t>B+D: </a:t>
            </a:r>
            <a:r>
              <a:rPr lang="en-US" dirty="0"/>
              <a:t>Baseline + Delta Radiomics - 6 features </a:t>
            </a:r>
            <a:endParaRPr lang="en-US" dirty="0">
              <a:solidFill>
                <a:srgbClr val="F8766D"/>
              </a:solidFill>
            </a:endParaRPr>
          </a:p>
          <a:p>
            <a:r>
              <a:rPr lang="en-US" dirty="0">
                <a:solidFill>
                  <a:srgbClr val="00BCC1"/>
                </a:solidFill>
              </a:rPr>
              <a:t>B+D+C: </a:t>
            </a:r>
            <a:r>
              <a:rPr lang="en-US" dirty="0"/>
              <a:t>Baseline + Delta + Clinical - 15 features</a:t>
            </a:r>
          </a:p>
          <a:p>
            <a:r>
              <a:rPr lang="en-US" b="1" dirty="0">
                <a:solidFill>
                  <a:srgbClr val="C474FF"/>
                </a:solidFill>
              </a:rPr>
              <a:t>B+D+C+I</a:t>
            </a:r>
            <a:r>
              <a:rPr lang="en-US" dirty="0">
                <a:solidFill>
                  <a:srgbClr val="C474FF"/>
                </a:solidFill>
              </a:rPr>
              <a:t>: </a:t>
            </a:r>
            <a:r>
              <a:rPr lang="en-US" dirty="0"/>
              <a:t>Baseline + Delta + Clinical + Interaction Terms - 18 features</a:t>
            </a:r>
          </a:p>
        </p:txBody>
      </p:sp>
      <p:sp>
        <p:nvSpPr>
          <p:cNvPr id="8" name="TextBox 7">
            <a:extLst>
              <a:ext uri="{FF2B5EF4-FFF2-40B4-BE49-F238E27FC236}">
                <a16:creationId xmlns:a16="http://schemas.microsoft.com/office/drawing/2014/main" id="{7AC0B7EF-6665-8CC4-2314-C21082C87BA4}"/>
              </a:ext>
            </a:extLst>
          </p:cNvPr>
          <p:cNvSpPr txBox="1"/>
          <p:nvPr/>
        </p:nvSpPr>
        <p:spPr>
          <a:xfrm>
            <a:off x="4540937" y="4022910"/>
            <a:ext cx="7625663" cy="1015663"/>
          </a:xfrm>
          <a:prstGeom prst="rect">
            <a:avLst/>
          </a:prstGeom>
          <a:noFill/>
          <a:ln>
            <a:noFill/>
          </a:ln>
        </p:spPr>
        <p:txBody>
          <a:bodyPr wrap="square" rtlCol="0">
            <a:spAutoFit/>
          </a:bodyPr>
          <a:lstStyle/>
          <a:p>
            <a:pPr marL="285750" indent="-285750">
              <a:buFont typeface="Arial" panose="020B0604020202020204" pitchFamily="34" charset="0"/>
              <a:buChar char="•"/>
            </a:pPr>
            <a:r>
              <a:rPr lang="en-US" sz="2000" dirty="0"/>
              <a:t>Significant improvement over Baseline model when incorporating Delta Radiomics and Clinical variables. </a:t>
            </a:r>
          </a:p>
          <a:p>
            <a:pPr marL="742950" lvl="1" indent="-285750">
              <a:buFont typeface="Arial" panose="020B0604020202020204" pitchFamily="34" charset="0"/>
              <a:buChar char="•"/>
            </a:pPr>
            <a:r>
              <a:rPr lang="en-US" sz="2000" dirty="0"/>
              <a:t>Including interactions did not improve performance much more</a:t>
            </a:r>
          </a:p>
        </p:txBody>
      </p:sp>
      <p:graphicFrame>
        <p:nvGraphicFramePr>
          <p:cNvPr id="6" name="Table 5">
            <a:extLst>
              <a:ext uri="{FF2B5EF4-FFF2-40B4-BE49-F238E27FC236}">
                <a16:creationId xmlns:a16="http://schemas.microsoft.com/office/drawing/2014/main" id="{7E58F039-EEC4-033D-63FF-56F38B22D715}"/>
              </a:ext>
            </a:extLst>
          </p:cNvPr>
          <p:cNvGraphicFramePr>
            <a:graphicFrameLocks noGrp="1"/>
          </p:cNvGraphicFramePr>
          <p:nvPr>
            <p:extLst>
              <p:ext uri="{D42A27DB-BD31-4B8C-83A1-F6EECF244321}">
                <p14:modId xmlns:p14="http://schemas.microsoft.com/office/powerpoint/2010/main" val="684387389"/>
              </p:ext>
            </p:extLst>
          </p:nvPr>
        </p:nvGraphicFramePr>
        <p:xfrm>
          <a:off x="4442268" y="1767680"/>
          <a:ext cx="7625664" cy="1188720"/>
        </p:xfrm>
        <a:graphic>
          <a:graphicData uri="http://schemas.openxmlformats.org/drawingml/2006/table">
            <a:tbl>
              <a:tblPr firstRow="1" bandRow="1">
                <a:tableStyleId>{073A0DAA-6AF3-43AB-8588-CEC1D06C72B9}</a:tableStyleId>
              </a:tblPr>
              <a:tblGrid>
                <a:gridCol w="1906416">
                  <a:extLst>
                    <a:ext uri="{9D8B030D-6E8A-4147-A177-3AD203B41FA5}">
                      <a16:colId xmlns:a16="http://schemas.microsoft.com/office/drawing/2014/main" val="2855581858"/>
                    </a:ext>
                  </a:extLst>
                </a:gridCol>
                <a:gridCol w="1906416">
                  <a:extLst>
                    <a:ext uri="{9D8B030D-6E8A-4147-A177-3AD203B41FA5}">
                      <a16:colId xmlns:a16="http://schemas.microsoft.com/office/drawing/2014/main" val="1272640724"/>
                    </a:ext>
                  </a:extLst>
                </a:gridCol>
                <a:gridCol w="1906416">
                  <a:extLst>
                    <a:ext uri="{9D8B030D-6E8A-4147-A177-3AD203B41FA5}">
                      <a16:colId xmlns:a16="http://schemas.microsoft.com/office/drawing/2014/main" val="870592456"/>
                    </a:ext>
                  </a:extLst>
                </a:gridCol>
                <a:gridCol w="1906416">
                  <a:extLst>
                    <a:ext uri="{9D8B030D-6E8A-4147-A177-3AD203B41FA5}">
                      <a16:colId xmlns:a16="http://schemas.microsoft.com/office/drawing/2014/main" val="2538885108"/>
                    </a:ext>
                  </a:extLst>
                </a:gridCol>
              </a:tblGrid>
              <a:tr h="322501">
                <a:tc gridSpan="4">
                  <a:txBody>
                    <a:bodyPr/>
                    <a:lstStyle/>
                    <a:p>
                      <a:r>
                        <a:rPr lang="en-US" dirty="0"/>
                        <a:t>Performance Metric: Concordance Index</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540975960"/>
                  </a:ext>
                </a:extLst>
              </a:tr>
              <a:tr h="725627">
                <a:tc>
                  <a:txBody>
                    <a:bodyPr/>
                    <a:lstStyle/>
                    <a:p>
                      <a:r>
                        <a:rPr lang="en-US" sz="1600" b="1" dirty="0"/>
                        <a:t> B: 0.52</a:t>
                      </a:r>
                    </a:p>
                    <a:p>
                      <a:r>
                        <a:rPr lang="en-US" sz="1600" b="1" dirty="0"/>
                        <a:t>(95%CI:0.44-0.58)</a:t>
                      </a:r>
                    </a:p>
                  </a:txBody>
                  <a:tcPr/>
                </a:tc>
                <a:tc>
                  <a:txBody>
                    <a:bodyPr/>
                    <a:lstStyle/>
                    <a:p>
                      <a:r>
                        <a:rPr lang="en-US" sz="1600" b="1" dirty="0"/>
                        <a:t>B+D: 0.61</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b="1" dirty="0"/>
                        <a:t>(95%CI:0.52-0.68)</a:t>
                      </a:r>
                    </a:p>
                  </a:txBody>
                  <a:tcPr/>
                </a:tc>
                <a:tc>
                  <a:txBody>
                    <a:bodyPr/>
                    <a:lstStyle/>
                    <a:p>
                      <a:r>
                        <a:rPr lang="en-US" sz="1600" b="1" dirty="0"/>
                        <a:t>B+D+C: 0.625</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b="1" dirty="0"/>
                        <a:t>(95%CI:0.55-0.70)*</a:t>
                      </a:r>
                    </a:p>
                    <a:p>
                      <a:endParaRPr lang="en-US" sz="1600" b="1" dirty="0"/>
                    </a:p>
                  </a:txBody>
                  <a:tcPr/>
                </a:tc>
                <a:tc>
                  <a:txBody>
                    <a:bodyPr/>
                    <a:lstStyle/>
                    <a:p>
                      <a:r>
                        <a:rPr lang="en-US" sz="1600" b="1" dirty="0">
                          <a:solidFill>
                            <a:schemeClr val="tx1"/>
                          </a:solidFill>
                        </a:rPr>
                        <a:t>B+D+C+I: 0.63</a:t>
                      </a:r>
                    </a:p>
                    <a:p>
                      <a:r>
                        <a:rPr lang="en-US" sz="1600" b="1" dirty="0">
                          <a:solidFill>
                            <a:schemeClr val="tx1"/>
                          </a:solidFill>
                        </a:rPr>
                        <a:t>(95% CI: 0.55-0.71)*</a:t>
                      </a:r>
                    </a:p>
                  </a:txBody>
                  <a:tcPr/>
                </a:tc>
                <a:extLst>
                  <a:ext uri="{0D108BD9-81ED-4DB2-BD59-A6C34878D82A}">
                    <a16:rowId xmlns:a16="http://schemas.microsoft.com/office/drawing/2014/main" val="1024300385"/>
                  </a:ext>
                </a:extLst>
              </a:tr>
            </a:tbl>
          </a:graphicData>
        </a:graphic>
      </p:graphicFrame>
      <p:sp>
        <p:nvSpPr>
          <p:cNvPr id="10" name="TextBox 9">
            <a:extLst>
              <a:ext uri="{FF2B5EF4-FFF2-40B4-BE49-F238E27FC236}">
                <a16:creationId xmlns:a16="http://schemas.microsoft.com/office/drawing/2014/main" id="{3CBB6EDC-259A-8D59-16B8-245F3F8D727E}"/>
              </a:ext>
            </a:extLst>
          </p:cNvPr>
          <p:cNvSpPr txBox="1"/>
          <p:nvPr/>
        </p:nvSpPr>
        <p:spPr>
          <a:xfrm>
            <a:off x="5044304" y="3053068"/>
            <a:ext cx="6618928" cy="646331"/>
          </a:xfrm>
          <a:prstGeom prst="rect">
            <a:avLst/>
          </a:prstGeom>
          <a:noFill/>
        </p:spPr>
        <p:txBody>
          <a:bodyPr wrap="none" rtlCol="0">
            <a:spAutoFit/>
          </a:bodyPr>
          <a:lstStyle/>
          <a:p>
            <a:r>
              <a:rPr lang="en-US" dirty="0"/>
              <a:t>*Statistically significant improvement over baseline (B) model based </a:t>
            </a:r>
          </a:p>
          <a:p>
            <a:r>
              <a:rPr lang="en-US" dirty="0"/>
              <a:t>   on Z-test using </a:t>
            </a:r>
            <a:r>
              <a:rPr lang="en-US" i="1" dirty="0"/>
              <a:t>compareC</a:t>
            </a:r>
            <a:r>
              <a:rPr lang="en-US" dirty="0"/>
              <a:t>  </a:t>
            </a:r>
          </a:p>
        </p:txBody>
      </p:sp>
    </p:spTree>
    <p:extLst>
      <p:ext uri="{BB962C8B-B14F-4D97-AF65-F5344CB8AC3E}">
        <p14:creationId xmlns:p14="http://schemas.microsoft.com/office/powerpoint/2010/main" val="2986609109"/>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50455-EAAA-21DA-11BE-44E6E4F26A65}"/>
              </a:ext>
            </a:extLst>
          </p:cNvPr>
          <p:cNvSpPr>
            <a:spLocks noGrp="1"/>
          </p:cNvSpPr>
          <p:nvPr>
            <p:ph type="title"/>
          </p:nvPr>
        </p:nvSpPr>
        <p:spPr/>
        <p:txBody>
          <a:bodyPr/>
          <a:lstStyle/>
          <a:p>
            <a:r>
              <a:rPr lang="en-US" dirty="0"/>
              <a:t>Summary &amp; Conclusion</a:t>
            </a:r>
          </a:p>
        </p:txBody>
      </p:sp>
      <p:sp>
        <p:nvSpPr>
          <p:cNvPr id="3" name="Slide Number Placeholder 2">
            <a:extLst>
              <a:ext uri="{FF2B5EF4-FFF2-40B4-BE49-F238E27FC236}">
                <a16:creationId xmlns:a16="http://schemas.microsoft.com/office/drawing/2014/main" id="{BA62B77C-FED9-964A-C469-A68826715485}"/>
              </a:ext>
            </a:extLst>
          </p:cNvPr>
          <p:cNvSpPr>
            <a:spLocks noGrp="1"/>
          </p:cNvSpPr>
          <p:nvPr>
            <p:ph type="sldNum" sz="quarter" idx="4"/>
          </p:nvPr>
        </p:nvSpPr>
        <p:spPr/>
        <p:txBody>
          <a:bodyPr/>
          <a:lstStyle/>
          <a:p>
            <a:fld id="{7D871F5F-C8AF-484B-B19A-A0CBCE8C7764}" type="slidenum">
              <a:rPr lang="en-US" smtClean="0"/>
              <a:t>9</a:t>
            </a:fld>
            <a:endParaRPr lang="en-US"/>
          </a:p>
        </p:txBody>
      </p:sp>
      <p:sp>
        <p:nvSpPr>
          <p:cNvPr id="5" name="TextBox 4">
            <a:extLst>
              <a:ext uri="{FF2B5EF4-FFF2-40B4-BE49-F238E27FC236}">
                <a16:creationId xmlns:a16="http://schemas.microsoft.com/office/drawing/2014/main" id="{90C9C02C-FDA5-9068-687E-32E032694C47}"/>
              </a:ext>
            </a:extLst>
          </p:cNvPr>
          <p:cNvSpPr txBox="1"/>
          <p:nvPr/>
        </p:nvSpPr>
        <p:spPr>
          <a:xfrm>
            <a:off x="8841205" y="6208941"/>
            <a:ext cx="3350795" cy="369332"/>
          </a:xfrm>
          <a:prstGeom prst="rect">
            <a:avLst/>
          </a:prstGeom>
          <a:noFill/>
        </p:spPr>
        <p:txBody>
          <a:bodyPr wrap="square">
            <a:spAutoFit/>
          </a:bodyPr>
          <a:lstStyle/>
          <a:p>
            <a:r>
              <a:rPr lang="en-US" dirty="0"/>
              <a:t>Contact:  Qian.Cao@fda.hhs.gov</a:t>
            </a:r>
          </a:p>
        </p:txBody>
      </p:sp>
      <p:sp>
        <p:nvSpPr>
          <p:cNvPr id="6" name="TextBox 5">
            <a:extLst>
              <a:ext uri="{FF2B5EF4-FFF2-40B4-BE49-F238E27FC236}">
                <a16:creationId xmlns:a16="http://schemas.microsoft.com/office/drawing/2014/main" id="{F1ABF88B-4FB0-9670-0F79-D5FF699CC7FF}"/>
              </a:ext>
            </a:extLst>
          </p:cNvPr>
          <p:cNvSpPr txBox="1"/>
          <p:nvPr/>
        </p:nvSpPr>
        <p:spPr>
          <a:xfrm>
            <a:off x="242113" y="1720840"/>
            <a:ext cx="11707774"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Multimodal models combining imaging and clinical data can potentially be used to help the assessment of personalized treatment in metastatic breast cancer.</a:t>
            </a:r>
          </a:p>
          <a:p>
            <a:pPr marL="742950" lvl="1" indent="-285750">
              <a:buFont typeface="Arial" panose="020B0604020202020204" pitchFamily="34" charset="0"/>
              <a:buChar char="•"/>
            </a:pPr>
            <a:r>
              <a:rPr lang="en-US" sz="2400" dirty="0"/>
              <a:t>Including delta radiomics and clinical variables improved the C-index performance</a:t>
            </a:r>
          </a:p>
          <a:p>
            <a:pPr marL="1200150" lvl="2" indent="-285750">
              <a:buFont typeface="Arial" panose="020B0604020202020204" pitchFamily="34" charset="0"/>
              <a:buChar char="•"/>
            </a:pPr>
            <a:r>
              <a:rPr lang="en-US" sz="2400" dirty="0"/>
              <a:t>Statistically significant improvement over baseline (radiomics) model alone</a:t>
            </a:r>
          </a:p>
          <a:p>
            <a:endParaRPr lang="en-US" sz="2400" dirty="0"/>
          </a:p>
          <a:p>
            <a:pPr marL="285750" indent="-285750">
              <a:buFont typeface="Arial" panose="020B0604020202020204" pitchFamily="34" charset="0"/>
              <a:buChar char="•"/>
            </a:pPr>
            <a:r>
              <a:rPr lang="en-US" sz="2400" dirty="0"/>
              <a:t>Ongoing work:</a:t>
            </a:r>
          </a:p>
          <a:p>
            <a:pPr marL="742950" lvl="1" indent="-285750">
              <a:buFont typeface="Arial" panose="020B0604020202020204" pitchFamily="34" charset="0"/>
              <a:buChar char="•"/>
            </a:pPr>
            <a:r>
              <a:rPr lang="en-US" sz="2400" dirty="0"/>
              <a:t>New machine learning models</a:t>
            </a:r>
          </a:p>
          <a:p>
            <a:pPr marL="742950" lvl="1" indent="-285750">
              <a:buFont typeface="Arial" panose="020B0604020202020204" pitchFamily="34" charset="0"/>
              <a:buChar char="•"/>
            </a:pPr>
            <a:r>
              <a:rPr lang="en-US" sz="2400" dirty="0"/>
              <a:t>Integrating genomics and ctDNA features as well</a:t>
            </a:r>
          </a:p>
          <a:p>
            <a:r>
              <a:rPr lang="en-US" sz="2400" dirty="0"/>
              <a:t>    </a:t>
            </a:r>
          </a:p>
        </p:txBody>
      </p:sp>
    </p:spTree>
    <p:extLst>
      <p:ext uri="{BB962C8B-B14F-4D97-AF65-F5344CB8AC3E}">
        <p14:creationId xmlns:p14="http://schemas.microsoft.com/office/powerpoint/2010/main" val="2852105678"/>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83BB4A773A5F44A38B2340C2EC53C6" ma:contentTypeVersion="22" ma:contentTypeDescription="Create a new document." ma:contentTypeScope="" ma:versionID="20f666a2f1336668c404d3c6320bcc56">
  <xsd:schema xmlns:xsd="http://www.w3.org/2001/XMLSchema" xmlns:xs="http://www.w3.org/2001/XMLSchema" xmlns:p="http://schemas.microsoft.com/office/2006/metadata/properties" xmlns:ns1="http://schemas.microsoft.com/sharepoint/v3" xmlns:ns2="2b521c67-1b7a-4ecc-88f5-0032532fb2fb" xmlns:ns3="aafa2086-513d-4f90-88dd-e82f7ab64452" xmlns:ns4="20867c8d-1cc9-4acd-a073-94634f6a764f" targetNamespace="http://schemas.microsoft.com/office/2006/metadata/properties" ma:root="true" ma:fieldsID="9e0e772bf4688237f1047b7cdc13bdc4" ns1:_="" ns2:_="" ns3:_="" ns4:_="">
    <xsd:import namespace="http://schemas.microsoft.com/sharepoint/v3"/>
    <xsd:import namespace="2b521c67-1b7a-4ecc-88f5-0032532fb2fb"/>
    <xsd:import namespace="aafa2086-513d-4f90-88dd-e82f7ab64452"/>
    <xsd:import namespace="20867c8d-1cc9-4acd-a073-94634f6a764f"/>
    <xsd:element name="properties">
      <xsd:complexType>
        <xsd:sequence>
          <xsd:element name="documentManagement">
            <xsd:complexType>
              <xsd:all>
                <xsd:element ref="ns2:MediaServiceMetadata" minOccurs="0"/>
                <xsd:element ref="ns2:MediaServiceFastMetadata" minOccurs="0"/>
                <xsd:element ref="ns2:Date" minOccurs="0"/>
                <xsd:element ref="ns2:Tag"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element ref="ns2:lcf76f155ced4ddcb4097134ff3c332f" minOccurs="0"/>
                <xsd:element ref="ns4:TaxCatchAll" minOccurs="0"/>
                <xsd:element ref="ns2:Summary"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b521c67-1b7a-4ecc-88f5-0032532fb2f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Date" ma:index="10" nillable="true" ma:displayName="Date" ma:format="DateOnly" ma:internalName="Date">
      <xsd:simpleType>
        <xsd:restriction base="dms:DateTime"/>
      </xsd:simpleType>
    </xsd:element>
    <xsd:element name="Tag" ma:index="11" nillable="true" ma:displayName="Tag" ma:format="Dropdown" ma:internalName="Tag">
      <xsd:complexType>
        <xsd:complexContent>
          <xsd:extension base="dms:MultiChoiceFillIn">
            <xsd:sequence>
              <xsd:element name="Value" maxOccurs="unbounded" minOccurs="0" nillable="true">
                <xsd:simpleType>
                  <xsd:union memberTypes="dms:Text">
                    <xsd:simpleType>
                      <xsd:restriction base="dms:Choice">
                        <xsd:enumeration value="Research update"/>
                        <xsd:enumeration value="Training"/>
                        <xsd:enumeration value="SOP"/>
                      </xsd:restriction>
                    </xsd:simpleType>
                  </xsd:union>
                </xsd:simpleType>
              </xsd:element>
            </xsd:sequence>
          </xsd:extension>
        </xsd:complexContent>
      </xsd:complex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79cf906e-e933-44a8-8421-1c91ada6f122" ma:termSetId="09814cd3-568e-fe90-9814-8d621ff8fb84" ma:anchorId="fba54fb3-c3e1-fe81-a776-ca4b69148c4d" ma:open="true" ma:isKeyword="false">
      <xsd:complexType>
        <xsd:sequence>
          <xsd:element ref="pc:Terms" minOccurs="0" maxOccurs="1"/>
        </xsd:sequence>
      </xsd:complexType>
    </xsd:element>
    <xsd:element name="Summary" ma:index="25" nillable="true" ma:displayName="Summary" ma:internalName="Summary">
      <xsd:simpleType>
        <xsd:restriction base="dms:Note">
          <xsd:maxLength value="255"/>
        </xsd:restriction>
      </xsd:simple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afa2086-513d-4f90-88dd-e82f7ab644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0867c8d-1cc9-4acd-a073-94634f6a764f"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11d1d4ab-ab9c-44b9-8f5c-6d5d03d7cdd5}" ma:internalName="TaxCatchAll" ma:showField="CatchAllData" ma:web="aafa2086-513d-4f90-88dd-e82f7ab6445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318BCE-6125-429B-9C2B-9D37712B2A74}">
  <ds:schemaRefs>
    <ds:schemaRef ds:uri="20867c8d-1cc9-4acd-a073-94634f6a764f"/>
    <ds:schemaRef ds:uri="2b521c67-1b7a-4ecc-88f5-0032532fb2fb"/>
    <ds:schemaRef ds:uri="aafa2086-513d-4f90-88dd-e82f7ab644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0A190F5-10DE-47C4-8C4E-11823CF8CCC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448</TotalTime>
  <Words>1140</Words>
  <Application>Microsoft Office PowerPoint</Application>
  <PresentationFormat>Widescreen</PresentationFormat>
  <Paragraphs>154</Paragraphs>
  <Slides>9</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 Math</vt:lpstr>
      <vt:lpstr>Helvetica</vt:lpstr>
      <vt:lpstr>Office Theme</vt:lpstr>
      <vt:lpstr>Early assessment of progression free survival in metastatic breast cancer: Preliminary multi-omic analysis from initial post treatment ct data</vt:lpstr>
      <vt:lpstr>Disclaimer</vt:lpstr>
      <vt:lpstr>Background</vt:lpstr>
      <vt:lpstr>Dataset</vt:lpstr>
      <vt:lpstr>Modeling</vt:lpstr>
      <vt:lpstr>Dimensionality Reduction</vt:lpstr>
      <vt:lpstr>Interactions Selection</vt:lpstr>
      <vt:lpstr>Results: Model Performance</vt:lpstr>
      <vt:lpstr>Summary &amp;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registration based automated lesion correspondence pipeline for longitudinal CT data</dc:title>
  <dc:creator/>
  <cp:lastModifiedBy>Mukherjee, Subrata</cp:lastModifiedBy>
  <cp:revision>5</cp:revision>
  <cp:lastPrinted>2024-06-05T20:19:26Z</cp:lastPrinted>
  <dcterms:created xsi:type="dcterms:W3CDTF">2023-06-27T15:20:46Z</dcterms:created>
  <dcterms:modified xsi:type="dcterms:W3CDTF">2025-05-13T23:55:53Z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c9bec58-8084-492e-8360-0e1cfe36408c_Enabled">
    <vt:lpwstr>true</vt:lpwstr>
  </property>
  <property fmtid="{D5CDD505-2E9C-101B-9397-08002B2CF9AE}" pid="3" name="MSIP_Label_3c9bec58-8084-492e-8360-0e1cfe36408c_SetDate">
    <vt:lpwstr>2024-11-20T19:45:19Z</vt:lpwstr>
  </property>
  <property fmtid="{D5CDD505-2E9C-101B-9397-08002B2CF9AE}" pid="4" name="MSIP_Label_3c9bec58-8084-492e-8360-0e1cfe36408c_Method">
    <vt:lpwstr>Standard</vt:lpwstr>
  </property>
  <property fmtid="{D5CDD505-2E9C-101B-9397-08002B2CF9AE}" pid="5" name="MSIP_Label_3c9bec58-8084-492e-8360-0e1cfe36408c_Name">
    <vt:lpwstr>Not Protected -Pilot</vt:lpwstr>
  </property>
  <property fmtid="{D5CDD505-2E9C-101B-9397-08002B2CF9AE}" pid="6" name="MSIP_Label_3c9bec58-8084-492e-8360-0e1cfe36408c_SiteId">
    <vt:lpwstr>f35a6974-607f-47d4-82d7-ff31d7dc53a5</vt:lpwstr>
  </property>
  <property fmtid="{D5CDD505-2E9C-101B-9397-08002B2CF9AE}" pid="7" name="MSIP_Label_3c9bec58-8084-492e-8360-0e1cfe36408c_ActionId">
    <vt:lpwstr>8f41d518-2c54-4585-ae7a-d5f55424362f</vt:lpwstr>
  </property>
  <property fmtid="{D5CDD505-2E9C-101B-9397-08002B2CF9AE}" pid="8" name="MSIP_Label_3c9bec58-8084-492e-8360-0e1cfe36408c_ContentBits">
    <vt:lpwstr>0</vt:lpwstr>
  </property>
</Properties>
</file>